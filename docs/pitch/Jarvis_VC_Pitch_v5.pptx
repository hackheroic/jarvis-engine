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12180" y="182880"/>
            <a:ext cx="164592" cy="16459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0" y="1371600"/>
            <a:ext cx="12188952" cy="320040"/>
          </a:xfrm>
          <a:prstGeom prst="rect">
            <a:avLst/>
          </a:prstGeom>
          <a:noFill/>
        </p:spPr>
        <p:txBody>
          <a:bodyPr wrap="square">
            <a:spAutoFit/>
          </a:bodyPr>
          <a:lstStyle/>
          <a:p>
            <a:pPr algn="ctr"/>
            <a:r>
              <a:rPr sz="900" b="1" i="0">
                <a:solidFill>
                  <a:srgbClr val="6B7FB5"/>
                </a:solidFill>
              </a:rPr>
              <a:t>JARVIS · AI PRODUCTIVITY ENGINE</a:t>
            </a:r>
          </a:p>
        </p:txBody>
      </p:sp>
      <p:sp>
        <p:nvSpPr>
          <p:cNvPr id="13" name="TextBox 12"/>
          <p:cNvSpPr txBox="1"/>
          <p:nvPr/>
        </p:nvSpPr>
        <p:spPr>
          <a:xfrm>
            <a:off x="0" y="1874519"/>
            <a:ext cx="12188952" cy="777240"/>
          </a:xfrm>
          <a:prstGeom prst="rect">
            <a:avLst/>
          </a:prstGeom>
          <a:noFill/>
        </p:spPr>
        <p:txBody>
          <a:bodyPr wrap="square">
            <a:spAutoFit/>
          </a:bodyPr>
          <a:lstStyle/>
          <a:p>
            <a:pPr algn="ctr"/>
            <a:r>
              <a:rPr sz="4600" b="1" i="0">
                <a:solidFill>
                  <a:srgbClr val="FAF8F4"/>
                </a:solidFill>
              </a:rPr>
              <a:t>Your AI that thinks,</a:t>
            </a:r>
          </a:p>
        </p:txBody>
      </p:sp>
      <p:sp>
        <p:nvSpPr>
          <p:cNvPr id="14" name="TextBox 13"/>
          <p:cNvSpPr txBox="1"/>
          <p:nvPr/>
        </p:nvSpPr>
        <p:spPr>
          <a:xfrm>
            <a:off x="0" y="2606040"/>
            <a:ext cx="12188952" cy="777240"/>
          </a:xfrm>
          <a:prstGeom prst="rect">
            <a:avLst/>
          </a:prstGeom>
          <a:noFill/>
        </p:spPr>
        <p:txBody>
          <a:bodyPr wrap="square">
            <a:spAutoFit/>
          </a:bodyPr>
          <a:lstStyle/>
          <a:p>
            <a:pPr algn="ctr"/>
            <a:r>
              <a:rPr sz="4600" b="1" i="0">
                <a:solidFill>
                  <a:srgbClr val="D4775A"/>
                </a:solidFill>
              </a:rPr>
              <a:t>so you don't have to.</a:t>
            </a:r>
          </a:p>
        </p:txBody>
      </p:sp>
      <p:sp>
        <p:nvSpPr>
          <p:cNvPr id="15" name="Rectangle 14"/>
          <p:cNvSpPr/>
          <p:nvPr/>
        </p:nvSpPr>
        <p:spPr>
          <a:xfrm>
            <a:off x="4631436" y="3520440"/>
            <a:ext cx="2926080"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0" y="3657600"/>
            <a:ext cx="12188952" cy="274320"/>
          </a:xfrm>
          <a:prstGeom prst="rect">
            <a:avLst/>
          </a:prstGeom>
          <a:noFill/>
        </p:spPr>
        <p:txBody>
          <a:bodyPr wrap="square">
            <a:spAutoFit/>
          </a:bodyPr>
          <a:lstStyle/>
          <a:p>
            <a:pPr algn="ctr"/>
            <a:r>
              <a:rPr sz="1000" b="0" i="0">
                <a:solidFill>
                  <a:srgbClr val="9C9488"/>
                </a:solidFill>
              </a:rPr>
              <a:t>MURALI MADHAV  ·  JARVIS ENGINE  ·  2026</a:t>
            </a:r>
          </a:p>
        </p:txBody>
      </p:sp>
      <p:sp>
        <p:nvSpPr>
          <p:cNvPr id="17" name="TextBox 16"/>
          <p:cNvSpPr txBox="1"/>
          <p:nvPr/>
        </p:nvSpPr>
        <p:spPr>
          <a:xfrm>
            <a:off x="1828800" y="4069080"/>
            <a:ext cx="8531352" cy="685800"/>
          </a:xfrm>
          <a:prstGeom prst="rect">
            <a:avLst/>
          </a:prstGeom>
          <a:noFill/>
        </p:spPr>
        <p:txBody>
          <a:bodyPr wrap="square">
            <a:spAutoFit/>
          </a:bodyPr>
          <a:lstStyle/>
          <a:p>
            <a:pPr algn="ctr"/>
            <a:r>
              <a:rPr sz="1300" b="0" i="0">
                <a:solidFill>
                  <a:srgbClr val="9C9488"/>
                </a:solidFill>
              </a:rPr>
              <a:t>Local-first AI that converts your brain dump into a mathematically optimal,
guilt-free daily schedule — powered by constraint solving, LLMs &amp; behavioral science.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01 / PROBLEM STATEMENT + YOUR INSIGHT</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Students are drowning in cognitive overhead.</a:t>
            </a:r>
          </a:p>
        </p:txBody>
      </p:sp>
      <p:sp>
        <p:nvSpPr>
          <p:cNvPr id="13" name="Rectangle 12"/>
          <p:cNvSpPr/>
          <p:nvPr/>
        </p:nvSpPr>
        <p:spPr>
          <a:xfrm>
            <a:off x="548640"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1325880"/>
            <a:ext cx="356616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 y="1417320"/>
            <a:ext cx="3200400" cy="475488"/>
          </a:xfrm>
          <a:prstGeom prst="rect">
            <a:avLst/>
          </a:prstGeom>
          <a:noFill/>
        </p:spPr>
        <p:txBody>
          <a:bodyPr wrap="square">
            <a:spAutoFit/>
          </a:bodyPr>
          <a:lstStyle/>
          <a:p>
            <a:pPr algn="l"/>
            <a:r>
              <a:rPr sz="2800" b="1" i="0">
                <a:solidFill>
                  <a:srgbClr val="D4775A"/>
                </a:solidFill>
              </a:rPr>
              <a:t>3.2 hrs/day</a:t>
            </a:r>
          </a:p>
        </p:txBody>
      </p:sp>
      <p:sp>
        <p:nvSpPr>
          <p:cNvPr id="16" name="TextBox 15"/>
          <p:cNvSpPr txBox="1"/>
          <p:nvPr/>
        </p:nvSpPr>
        <p:spPr>
          <a:xfrm>
            <a:off x="731520" y="1874519"/>
            <a:ext cx="3200400" cy="594360"/>
          </a:xfrm>
          <a:prstGeom prst="rect">
            <a:avLst/>
          </a:prstGeom>
          <a:noFill/>
        </p:spPr>
        <p:txBody>
          <a:bodyPr wrap="square">
            <a:spAutoFit/>
          </a:bodyPr>
          <a:lstStyle/>
          <a:p>
            <a:pPr algn="l"/>
            <a:r>
              <a:rPr sz="1000" b="0" i="0">
                <a:solidFill>
                  <a:srgbClr val="9C9488"/>
                </a:solidFill>
              </a:rPr>
              <a:t>lost planning
before any real work</a:t>
            </a:r>
          </a:p>
        </p:txBody>
      </p:sp>
      <p:sp>
        <p:nvSpPr>
          <p:cNvPr id="17" name="Rectangle 16"/>
          <p:cNvSpPr/>
          <p:nvPr/>
        </p:nvSpPr>
        <p:spPr>
          <a:xfrm>
            <a:off x="4297679"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297679" y="1325880"/>
            <a:ext cx="356616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1417320"/>
            <a:ext cx="3200400" cy="475488"/>
          </a:xfrm>
          <a:prstGeom prst="rect">
            <a:avLst/>
          </a:prstGeom>
          <a:noFill/>
        </p:spPr>
        <p:txBody>
          <a:bodyPr wrap="square">
            <a:spAutoFit/>
          </a:bodyPr>
          <a:lstStyle/>
          <a:p>
            <a:pPr algn="l"/>
            <a:r>
              <a:rPr sz="2800" b="1" i="0">
                <a:solidFill>
                  <a:srgbClr val="E09D5C"/>
                </a:solidFill>
              </a:rPr>
              <a:t>5 / 5</a:t>
            </a:r>
          </a:p>
        </p:txBody>
      </p:sp>
      <p:sp>
        <p:nvSpPr>
          <p:cNvPr id="20" name="TextBox 19"/>
          <p:cNvSpPr txBox="1"/>
          <p:nvPr/>
        </p:nvSpPr>
        <p:spPr>
          <a:xfrm>
            <a:off x="4480559" y="1874519"/>
            <a:ext cx="3200400" cy="594360"/>
          </a:xfrm>
          <a:prstGeom prst="rect">
            <a:avLst/>
          </a:prstGeom>
          <a:noFill/>
        </p:spPr>
        <p:txBody>
          <a:bodyPr wrap="square">
            <a:spAutoFit/>
          </a:bodyPr>
          <a:lstStyle/>
          <a:p>
            <a:pPr algn="l"/>
            <a:r>
              <a:rPr sz="1000" b="0" i="0">
                <a:solidFill>
                  <a:srgbClr val="9C9488"/>
                </a:solidFill>
              </a:rPr>
              <a:t>interviewees said:
"I know what to do.
I just can't start."</a:t>
            </a:r>
          </a:p>
        </p:txBody>
      </p:sp>
      <p:sp>
        <p:nvSpPr>
          <p:cNvPr id="21" name="Rectangle 20"/>
          <p:cNvSpPr/>
          <p:nvPr/>
        </p:nvSpPr>
        <p:spPr>
          <a:xfrm>
            <a:off x="8046718" y="1325880"/>
            <a:ext cx="3566160" cy="11887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046718" y="1325880"/>
            <a:ext cx="356616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598" y="1417320"/>
            <a:ext cx="3200400" cy="475488"/>
          </a:xfrm>
          <a:prstGeom prst="rect">
            <a:avLst/>
          </a:prstGeom>
          <a:noFill/>
        </p:spPr>
        <p:txBody>
          <a:bodyPr wrap="square">
            <a:spAutoFit/>
          </a:bodyPr>
          <a:lstStyle/>
          <a:p>
            <a:pPr algn="l"/>
            <a:r>
              <a:rPr sz="2800" b="1" i="0">
                <a:solidFill>
                  <a:srgbClr val="6B7FB5"/>
                </a:solidFill>
              </a:rPr>
              <a:t>78%</a:t>
            </a:r>
          </a:p>
        </p:txBody>
      </p:sp>
      <p:sp>
        <p:nvSpPr>
          <p:cNvPr id="24" name="TextBox 23"/>
          <p:cNvSpPr txBox="1"/>
          <p:nvPr/>
        </p:nvSpPr>
        <p:spPr>
          <a:xfrm>
            <a:off x="8229598" y="1874519"/>
            <a:ext cx="3200400" cy="594360"/>
          </a:xfrm>
          <a:prstGeom prst="rect">
            <a:avLst/>
          </a:prstGeom>
          <a:noFill/>
        </p:spPr>
        <p:txBody>
          <a:bodyPr wrap="square">
            <a:spAutoFit/>
          </a:bodyPr>
          <a:lstStyle/>
          <a:p>
            <a:pPr algn="l"/>
            <a:r>
              <a:rPr sz="1000" b="0" i="0">
                <a:solidFill>
                  <a:srgbClr val="9C9488"/>
                </a:solidFill>
              </a:rPr>
              <a:t>feel weekly guilt
from missed tasks</a:t>
            </a:r>
          </a:p>
        </p:txBody>
      </p:sp>
      <p:sp>
        <p:nvSpPr>
          <p:cNvPr id="25" name="TextBox 24"/>
          <p:cNvSpPr txBox="1"/>
          <p:nvPr/>
        </p:nvSpPr>
        <p:spPr>
          <a:xfrm>
            <a:off x="548640" y="2697480"/>
            <a:ext cx="3657600" cy="228600"/>
          </a:xfrm>
          <a:prstGeom prst="rect">
            <a:avLst/>
          </a:prstGeom>
          <a:noFill/>
        </p:spPr>
        <p:txBody>
          <a:bodyPr wrap="square">
            <a:spAutoFit/>
          </a:bodyPr>
          <a:lstStyle/>
          <a:p>
            <a:pPr algn="l"/>
            <a:r>
              <a:rPr sz="800" b="1" i="0">
                <a:solidFill>
                  <a:srgbClr val="E09D5C"/>
                </a:solidFill>
              </a:rPr>
              <a:t>FOUNDER INSIGHT</a:t>
            </a:r>
          </a:p>
        </p:txBody>
      </p:sp>
      <p:sp>
        <p:nvSpPr>
          <p:cNvPr id="26" name="TextBox 25"/>
          <p:cNvSpPr txBox="1"/>
          <p:nvPr/>
        </p:nvSpPr>
        <p:spPr>
          <a:xfrm>
            <a:off x="548640" y="2944368"/>
            <a:ext cx="7132320" cy="777240"/>
          </a:xfrm>
          <a:prstGeom prst="rect">
            <a:avLst/>
          </a:prstGeom>
          <a:noFill/>
        </p:spPr>
        <p:txBody>
          <a:bodyPr wrap="square">
            <a:spAutoFit/>
          </a:bodyPr>
          <a:lstStyle/>
          <a:p>
            <a:pPr algn="l"/>
            <a:r>
              <a:rPr sz="1200" b="0" i="0">
                <a:solidFill>
                  <a:srgbClr val="9C9488"/>
                </a:solidFill>
              </a:rPr>
              <a:t>I lived this. As an engineering student managing exams, side projects, and self-study — I was spending more energy figuring out what to work on than actually working. Notion didn't think for me. Calendars didn't adapt. No tool decomposed my goals into an executable day automatically.</a:t>
            </a:r>
          </a:p>
        </p:txBody>
      </p:sp>
      <p:sp>
        <p:nvSpPr>
          <p:cNvPr id="27" name="TextBox 26"/>
          <p:cNvSpPr txBox="1"/>
          <p:nvPr/>
        </p:nvSpPr>
        <p:spPr>
          <a:xfrm>
            <a:off x="548640" y="3822191"/>
            <a:ext cx="4572000" cy="256032"/>
          </a:xfrm>
          <a:prstGeom prst="rect">
            <a:avLst/>
          </a:prstGeom>
          <a:noFill/>
        </p:spPr>
        <p:txBody>
          <a:bodyPr wrap="square">
            <a:spAutoFit/>
          </a:bodyPr>
          <a:lstStyle/>
          <a:p>
            <a:pPr algn="l"/>
            <a:r>
              <a:rPr sz="1100" b="1" i="0">
                <a:solidFill>
                  <a:srgbClr val="FAF8F4"/>
                </a:solidFill>
              </a:rPr>
              <a:t>Why existing tools fail:</a:t>
            </a:r>
          </a:p>
        </p:txBody>
      </p:sp>
      <p:sp>
        <p:nvSpPr>
          <p:cNvPr id="28" name="Rectangle 27"/>
          <p:cNvSpPr/>
          <p:nvPr/>
        </p:nvSpPr>
        <p:spPr>
          <a:xfrm>
            <a:off x="548640" y="4261103"/>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4169663"/>
            <a:ext cx="10332720" cy="347472"/>
          </a:xfrm>
          <a:prstGeom prst="rect">
            <a:avLst/>
          </a:prstGeom>
          <a:noFill/>
        </p:spPr>
        <p:txBody>
          <a:bodyPr wrap="square">
            <a:spAutoFit/>
          </a:bodyPr>
          <a:lstStyle/>
          <a:p>
            <a:pPr algn="l"/>
            <a:r>
              <a:rPr sz="1200" b="0" i="0">
                <a:solidFill>
                  <a:srgbClr val="FAF8F4"/>
                </a:solidFill>
              </a:rPr>
              <a:t>Notion / Todoist are empty containers — they don't think for you</a:t>
            </a:r>
          </a:p>
        </p:txBody>
      </p:sp>
      <p:sp>
        <p:nvSpPr>
          <p:cNvPr id="30" name="Rectangle 29"/>
          <p:cNvSpPr/>
          <p:nvPr/>
        </p:nvSpPr>
        <p:spPr>
          <a:xfrm>
            <a:off x="548640" y="4645151"/>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53711"/>
            <a:ext cx="10332720" cy="347472"/>
          </a:xfrm>
          <a:prstGeom prst="rect">
            <a:avLst/>
          </a:prstGeom>
          <a:noFill/>
        </p:spPr>
        <p:txBody>
          <a:bodyPr wrap="square">
            <a:spAutoFit/>
          </a:bodyPr>
          <a:lstStyle/>
          <a:p>
            <a:pPr algn="l"/>
            <a:r>
              <a:rPr sz="1200" b="0" i="0">
                <a:solidFill>
                  <a:srgbClr val="FAF8F4"/>
                </a:solidFill>
              </a:rPr>
              <a:t>Calendars schedule but don't decompose goals into achievable steps</a:t>
            </a:r>
          </a:p>
        </p:txBody>
      </p:sp>
      <p:sp>
        <p:nvSpPr>
          <p:cNvPr id="32" name="Rectangle 31"/>
          <p:cNvSpPr/>
          <p:nvPr/>
        </p:nvSpPr>
        <p:spPr>
          <a:xfrm>
            <a:off x="548640" y="5029199"/>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937759"/>
            <a:ext cx="10332720" cy="347472"/>
          </a:xfrm>
          <a:prstGeom prst="rect">
            <a:avLst/>
          </a:prstGeom>
          <a:noFill/>
        </p:spPr>
        <p:txBody>
          <a:bodyPr wrap="square">
            <a:spAutoFit/>
          </a:bodyPr>
          <a:lstStyle/>
          <a:p>
            <a:pPr algn="l"/>
            <a:r>
              <a:rPr sz="1200" b="0" i="0">
                <a:solidFill>
                  <a:srgbClr val="FAF8F4"/>
                </a:solidFill>
              </a:rPr>
              <a:t>AI chatbots give suggestions, not constraint-aware executable plans</a:t>
            </a:r>
          </a:p>
        </p:txBody>
      </p:sp>
      <p:sp>
        <p:nvSpPr>
          <p:cNvPr id="34" name="Rectangle 33"/>
          <p:cNvSpPr/>
          <p:nvPr/>
        </p:nvSpPr>
        <p:spPr>
          <a:xfrm>
            <a:off x="548640" y="5230368"/>
            <a:ext cx="54864" cy="5943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03504" y="5230368"/>
            <a:ext cx="10424160" cy="59436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77240" y="5294376"/>
            <a:ext cx="10058400" cy="320040"/>
          </a:xfrm>
          <a:prstGeom prst="rect">
            <a:avLst/>
          </a:prstGeom>
          <a:noFill/>
        </p:spPr>
        <p:txBody>
          <a:bodyPr wrap="square">
            <a:spAutoFit/>
          </a:bodyPr>
          <a:lstStyle/>
          <a:p>
            <a:pPr algn="l"/>
            <a:r>
              <a:rPr sz="1200" b="0" i="1">
                <a:solidFill>
                  <a:srgbClr val="FAF8F4"/>
                </a:solidFill>
              </a:rPr>
              <a:t>"I feel guilty constantly. I have everything I need — but I can't turn it into a plan that sticks."</a:t>
            </a:r>
          </a:p>
        </p:txBody>
      </p:sp>
      <p:sp>
        <p:nvSpPr>
          <p:cNvPr id="37" name="TextBox 36"/>
          <p:cNvSpPr txBox="1"/>
          <p:nvPr/>
        </p:nvSpPr>
        <p:spPr>
          <a:xfrm>
            <a:off x="777240" y="5641848"/>
            <a:ext cx="10058400" cy="201168"/>
          </a:xfrm>
          <a:prstGeom prst="rect">
            <a:avLst/>
          </a:prstGeom>
          <a:noFill/>
        </p:spPr>
        <p:txBody>
          <a:bodyPr wrap="square">
            <a:spAutoFit/>
          </a:bodyPr>
          <a:lstStyle/>
          <a:p>
            <a:pPr algn="l"/>
            <a:r>
              <a:rPr sz="900" b="0" i="0">
                <a:solidFill>
                  <a:srgbClr val="6B6560"/>
                </a:solidFill>
              </a:rPr>
              <a:t>— Engineering student, interview #3  ·  Full transcripts attached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02 / PROPOSED SOLUTION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Brain dump  →  Perfect schedule.</a:t>
            </a:r>
          </a:p>
        </p:txBody>
      </p:sp>
      <p:sp>
        <p:nvSpPr>
          <p:cNvPr id="13" name="TextBox 12"/>
          <p:cNvSpPr txBox="1"/>
          <p:nvPr/>
        </p:nvSpPr>
        <p:spPr>
          <a:xfrm>
            <a:off x="548640" y="1188720"/>
            <a:ext cx="8229600" cy="292608"/>
          </a:xfrm>
          <a:prstGeom prst="rect">
            <a:avLst/>
          </a:prstGeom>
          <a:noFill/>
        </p:spPr>
        <p:txBody>
          <a:bodyPr wrap="square">
            <a:spAutoFit/>
          </a:bodyPr>
          <a:lstStyle/>
          <a:p>
            <a:pPr algn="l"/>
            <a:r>
              <a:rPr sz="1300" b="0" i="0">
                <a:solidFill>
                  <a:srgbClr val="9C9488"/>
                </a:solidFill>
              </a:rPr>
              <a:t>Six steps. Fully automated. No manual planning required.</a:t>
            </a:r>
          </a:p>
        </p:txBody>
      </p:sp>
      <p:sp>
        <p:nvSpPr>
          <p:cNvPr id="14" name="Rectangle 13"/>
          <p:cNvSpPr/>
          <p:nvPr/>
        </p:nvSpPr>
        <p:spPr>
          <a:xfrm>
            <a:off x="45720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1737360"/>
            <a:ext cx="548640" cy="347472"/>
          </a:xfrm>
          <a:prstGeom prst="rect">
            <a:avLst/>
          </a:prstGeom>
          <a:noFill/>
        </p:spPr>
        <p:txBody>
          <a:bodyPr wrap="square">
            <a:spAutoFit/>
          </a:bodyPr>
          <a:lstStyle/>
          <a:p>
            <a:pPr algn="l"/>
            <a:r>
              <a:rPr sz="1800" b="1" i="0">
                <a:solidFill>
                  <a:srgbClr val="D4775A"/>
                </a:solidFill>
              </a:rPr>
              <a:t>01</a:t>
            </a:r>
          </a:p>
        </p:txBody>
      </p:sp>
      <p:sp>
        <p:nvSpPr>
          <p:cNvPr id="17" name="TextBox 16"/>
          <p:cNvSpPr txBox="1"/>
          <p:nvPr/>
        </p:nvSpPr>
        <p:spPr>
          <a:xfrm>
            <a:off x="594360" y="2103120"/>
            <a:ext cx="1600200" cy="274320"/>
          </a:xfrm>
          <a:prstGeom prst="rect">
            <a:avLst/>
          </a:prstGeom>
          <a:noFill/>
        </p:spPr>
        <p:txBody>
          <a:bodyPr wrap="square">
            <a:spAutoFit/>
          </a:bodyPr>
          <a:lstStyle/>
          <a:p>
            <a:pPr algn="l"/>
            <a:r>
              <a:rPr sz="900" b="1" i="0">
                <a:solidFill>
                  <a:srgbClr val="FAF8F4"/>
                </a:solidFill>
              </a:rPr>
              <a:t>BRAIN DUMP</a:t>
            </a:r>
          </a:p>
        </p:txBody>
      </p:sp>
      <p:sp>
        <p:nvSpPr>
          <p:cNvPr id="18" name="TextBox 17"/>
          <p:cNvSpPr txBox="1"/>
          <p:nvPr/>
        </p:nvSpPr>
        <p:spPr>
          <a:xfrm>
            <a:off x="594360" y="2423160"/>
            <a:ext cx="1600200" cy="1097280"/>
          </a:xfrm>
          <a:prstGeom prst="rect">
            <a:avLst/>
          </a:prstGeom>
          <a:noFill/>
        </p:spPr>
        <p:txBody>
          <a:bodyPr wrap="square">
            <a:spAutoFit/>
          </a:bodyPr>
          <a:lstStyle/>
          <a:p>
            <a:pPr algn="l"/>
            <a:r>
              <a:rPr sz="1000" b="0" i="0">
                <a:solidFill>
                  <a:srgbClr val="9C9488"/>
                </a:solidFill>
              </a:rPr>
              <a:t>You say anything:
tasks, goals, habits,
deadlines, constraints</a:t>
            </a:r>
          </a:p>
        </p:txBody>
      </p:sp>
      <p:sp>
        <p:nvSpPr>
          <p:cNvPr id="19" name="Rectangle 18"/>
          <p:cNvSpPr/>
          <p:nvPr/>
        </p:nvSpPr>
        <p:spPr>
          <a:xfrm>
            <a:off x="2286000"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41448"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441448"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578608" y="1737360"/>
            <a:ext cx="548640" cy="347472"/>
          </a:xfrm>
          <a:prstGeom prst="rect">
            <a:avLst/>
          </a:prstGeom>
          <a:noFill/>
        </p:spPr>
        <p:txBody>
          <a:bodyPr wrap="square">
            <a:spAutoFit/>
          </a:bodyPr>
          <a:lstStyle/>
          <a:p>
            <a:pPr algn="l"/>
            <a:r>
              <a:rPr sz="1800" b="1" i="0">
                <a:solidFill>
                  <a:srgbClr val="E09D5C"/>
                </a:solidFill>
              </a:rPr>
              <a:t>02</a:t>
            </a:r>
          </a:p>
        </p:txBody>
      </p:sp>
      <p:sp>
        <p:nvSpPr>
          <p:cNvPr id="23" name="TextBox 22"/>
          <p:cNvSpPr txBox="1"/>
          <p:nvPr/>
        </p:nvSpPr>
        <p:spPr>
          <a:xfrm>
            <a:off x="2578608" y="2103120"/>
            <a:ext cx="1600200" cy="274320"/>
          </a:xfrm>
          <a:prstGeom prst="rect">
            <a:avLst/>
          </a:prstGeom>
          <a:noFill/>
        </p:spPr>
        <p:txBody>
          <a:bodyPr wrap="square">
            <a:spAutoFit/>
          </a:bodyPr>
          <a:lstStyle/>
          <a:p>
            <a:pPr algn="l"/>
            <a:r>
              <a:rPr sz="900" b="1" i="0">
                <a:solidFill>
                  <a:srgbClr val="FAF8F4"/>
                </a:solidFill>
              </a:rPr>
              <a:t>JARVIS AI</a:t>
            </a:r>
          </a:p>
        </p:txBody>
      </p:sp>
      <p:sp>
        <p:nvSpPr>
          <p:cNvPr id="24" name="TextBox 23"/>
          <p:cNvSpPr txBox="1"/>
          <p:nvPr/>
        </p:nvSpPr>
        <p:spPr>
          <a:xfrm>
            <a:off x="2578608" y="2423160"/>
            <a:ext cx="1600200" cy="1097280"/>
          </a:xfrm>
          <a:prstGeom prst="rect">
            <a:avLst/>
          </a:prstGeom>
          <a:noFill/>
        </p:spPr>
        <p:txBody>
          <a:bodyPr wrap="square">
            <a:spAutoFit/>
          </a:bodyPr>
          <a:lstStyle/>
          <a:p>
            <a:pPr algn="l"/>
            <a:r>
              <a:rPr sz="1000" b="0" i="0">
                <a:solidFill>
                  <a:srgbClr val="9C9488"/>
                </a:solidFill>
              </a:rPr>
              <a:t>Jarvis AI understands
your intent, tasks,
habits and constraints</a:t>
            </a:r>
          </a:p>
        </p:txBody>
      </p:sp>
      <p:sp>
        <p:nvSpPr>
          <p:cNvPr id="25" name="Rectangle 24"/>
          <p:cNvSpPr/>
          <p:nvPr/>
        </p:nvSpPr>
        <p:spPr>
          <a:xfrm>
            <a:off x="4270248"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425696"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425696"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62856" y="1737360"/>
            <a:ext cx="548640" cy="347472"/>
          </a:xfrm>
          <a:prstGeom prst="rect">
            <a:avLst/>
          </a:prstGeom>
          <a:noFill/>
        </p:spPr>
        <p:txBody>
          <a:bodyPr wrap="square">
            <a:spAutoFit/>
          </a:bodyPr>
          <a:lstStyle/>
          <a:p>
            <a:pPr algn="l"/>
            <a:r>
              <a:rPr sz="1800" b="1" i="0">
                <a:solidFill>
                  <a:srgbClr val="6B7FB5"/>
                </a:solidFill>
              </a:rPr>
              <a:t>03</a:t>
            </a:r>
          </a:p>
        </p:txBody>
      </p:sp>
      <p:sp>
        <p:nvSpPr>
          <p:cNvPr id="29" name="TextBox 28"/>
          <p:cNvSpPr txBox="1"/>
          <p:nvPr/>
        </p:nvSpPr>
        <p:spPr>
          <a:xfrm>
            <a:off x="4562856" y="2103120"/>
            <a:ext cx="1600200" cy="274320"/>
          </a:xfrm>
          <a:prstGeom prst="rect">
            <a:avLst/>
          </a:prstGeom>
          <a:noFill/>
        </p:spPr>
        <p:txBody>
          <a:bodyPr wrap="square">
            <a:spAutoFit/>
          </a:bodyPr>
          <a:lstStyle/>
          <a:p>
            <a:pPr algn="l"/>
            <a:r>
              <a:rPr sz="900" b="1" i="0">
                <a:solidFill>
                  <a:srgbClr val="FAF8F4"/>
                </a:solidFill>
              </a:rPr>
              <a:t>DECOMPOSER</a:t>
            </a:r>
          </a:p>
        </p:txBody>
      </p:sp>
      <p:sp>
        <p:nvSpPr>
          <p:cNvPr id="30" name="TextBox 29"/>
          <p:cNvSpPr txBox="1"/>
          <p:nvPr/>
        </p:nvSpPr>
        <p:spPr>
          <a:xfrm>
            <a:off x="4562856" y="2423160"/>
            <a:ext cx="1600200" cy="1097280"/>
          </a:xfrm>
          <a:prstGeom prst="rect">
            <a:avLst/>
          </a:prstGeom>
          <a:noFill/>
        </p:spPr>
        <p:txBody>
          <a:bodyPr wrap="square">
            <a:spAutoFit/>
          </a:bodyPr>
          <a:lstStyle/>
          <a:p>
            <a:pPr algn="l"/>
            <a:r>
              <a:rPr sz="1000" b="0" i="0">
                <a:solidFill>
                  <a:srgbClr val="9C9488"/>
                </a:solidFill>
              </a:rPr>
              <a:t>Breaks goals into
≤25 min micro-tasks
with psychology baked in</a:t>
            </a:r>
          </a:p>
        </p:txBody>
      </p:sp>
      <p:sp>
        <p:nvSpPr>
          <p:cNvPr id="31" name="Rectangle 30"/>
          <p:cNvSpPr/>
          <p:nvPr/>
        </p:nvSpPr>
        <p:spPr>
          <a:xfrm>
            <a:off x="6254496"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09944"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09944" y="1627632"/>
            <a:ext cx="17830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47104" y="1737360"/>
            <a:ext cx="548640" cy="347472"/>
          </a:xfrm>
          <a:prstGeom prst="rect">
            <a:avLst/>
          </a:prstGeom>
          <a:noFill/>
        </p:spPr>
        <p:txBody>
          <a:bodyPr wrap="square">
            <a:spAutoFit/>
          </a:bodyPr>
          <a:lstStyle/>
          <a:p>
            <a:pPr algn="l"/>
            <a:r>
              <a:rPr sz="1800" b="1" i="0">
                <a:solidFill>
                  <a:srgbClr val="D4775A"/>
                </a:solidFill>
              </a:rPr>
              <a:t>04</a:t>
            </a:r>
          </a:p>
        </p:txBody>
      </p:sp>
      <p:sp>
        <p:nvSpPr>
          <p:cNvPr id="35" name="TextBox 34"/>
          <p:cNvSpPr txBox="1"/>
          <p:nvPr/>
        </p:nvSpPr>
        <p:spPr>
          <a:xfrm>
            <a:off x="6547104" y="2103120"/>
            <a:ext cx="1600200" cy="274320"/>
          </a:xfrm>
          <a:prstGeom prst="rect">
            <a:avLst/>
          </a:prstGeom>
          <a:noFill/>
        </p:spPr>
        <p:txBody>
          <a:bodyPr wrap="square">
            <a:spAutoFit/>
          </a:bodyPr>
          <a:lstStyle/>
          <a:p>
            <a:pPr algn="l"/>
            <a:r>
              <a:rPr sz="900" b="1" i="0">
                <a:solidFill>
                  <a:srgbClr val="FAF8F4"/>
                </a:solidFill>
              </a:rPr>
              <a:t>SCHEDULER</a:t>
            </a:r>
          </a:p>
        </p:txBody>
      </p:sp>
      <p:sp>
        <p:nvSpPr>
          <p:cNvPr id="36" name="TextBox 35"/>
          <p:cNvSpPr txBox="1"/>
          <p:nvPr/>
        </p:nvSpPr>
        <p:spPr>
          <a:xfrm>
            <a:off x="6547104" y="2423160"/>
            <a:ext cx="1600200" cy="1097280"/>
          </a:xfrm>
          <a:prstGeom prst="rect">
            <a:avLst/>
          </a:prstGeom>
          <a:noFill/>
        </p:spPr>
        <p:txBody>
          <a:bodyPr wrap="square">
            <a:spAutoFit/>
          </a:bodyPr>
          <a:lstStyle/>
          <a:p>
            <a:pPr algn="l"/>
            <a:r>
              <a:rPr sz="1000" b="0" i="0">
                <a:solidFill>
                  <a:srgbClr val="9C9488"/>
                </a:solidFill>
              </a:rPr>
              <a:t>Mathematical engine
builds a provably valid,
conflict-free plan</a:t>
            </a:r>
          </a:p>
        </p:txBody>
      </p:sp>
      <p:sp>
        <p:nvSpPr>
          <p:cNvPr id="37" name="Rectangle 36"/>
          <p:cNvSpPr/>
          <p:nvPr/>
        </p:nvSpPr>
        <p:spPr>
          <a:xfrm>
            <a:off x="8238744"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394192"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94192" y="1627632"/>
            <a:ext cx="17830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31352" y="1737360"/>
            <a:ext cx="548640" cy="347472"/>
          </a:xfrm>
          <a:prstGeom prst="rect">
            <a:avLst/>
          </a:prstGeom>
          <a:noFill/>
        </p:spPr>
        <p:txBody>
          <a:bodyPr wrap="square">
            <a:spAutoFit/>
          </a:bodyPr>
          <a:lstStyle/>
          <a:p>
            <a:pPr algn="l"/>
            <a:r>
              <a:rPr sz="1800" b="1" i="0">
                <a:solidFill>
                  <a:srgbClr val="E09D5C"/>
                </a:solidFill>
              </a:rPr>
              <a:t>05</a:t>
            </a:r>
          </a:p>
        </p:txBody>
      </p:sp>
      <p:sp>
        <p:nvSpPr>
          <p:cNvPr id="41" name="TextBox 40"/>
          <p:cNvSpPr txBox="1"/>
          <p:nvPr/>
        </p:nvSpPr>
        <p:spPr>
          <a:xfrm>
            <a:off x="8531352" y="2103120"/>
            <a:ext cx="1600200" cy="274320"/>
          </a:xfrm>
          <a:prstGeom prst="rect">
            <a:avLst/>
          </a:prstGeom>
          <a:noFill/>
        </p:spPr>
        <p:txBody>
          <a:bodyPr wrap="square">
            <a:spAutoFit/>
          </a:bodyPr>
          <a:lstStyle/>
          <a:p>
            <a:pPr algn="l"/>
            <a:r>
              <a:rPr sz="900" b="1" i="0">
                <a:solidFill>
                  <a:srgbClr val="FAF8F4"/>
                </a:solidFill>
              </a:rPr>
              <a:t>DRAFT REVIEW</a:t>
            </a:r>
          </a:p>
        </p:txBody>
      </p:sp>
      <p:sp>
        <p:nvSpPr>
          <p:cNvPr id="42" name="TextBox 41"/>
          <p:cNvSpPr txBox="1"/>
          <p:nvPr/>
        </p:nvSpPr>
        <p:spPr>
          <a:xfrm>
            <a:off x="8531352" y="2423160"/>
            <a:ext cx="1600200" cy="1097280"/>
          </a:xfrm>
          <a:prstGeom prst="rect">
            <a:avLst/>
          </a:prstGeom>
          <a:noFill/>
        </p:spPr>
        <p:txBody>
          <a:bodyPr wrap="square">
            <a:spAutoFit/>
          </a:bodyPr>
          <a:lstStyle/>
          <a:p>
            <a:pPr algn="l"/>
            <a:r>
              <a:rPr sz="1000" b="0" i="0">
                <a:solidFill>
                  <a:srgbClr val="9C9488"/>
                </a:solidFill>
              </a:rPr>
              <a:t>You accept, edit,
reject or chat —
Jarvis adapts live</a:t>
            </a:r>
          </a:p>
        </p:txBody>
      </p:sp>
      <p:sp>
        <p:nvSpPr>
          <p:cNvPr id="43" name="Rectangle 42"/>
          <p:cNvSpPr/>
          <p:nvPr/>
        </p:nvSpPr>
        <p:spPr>
          <a:xfrm>
            <a:off x="10222992" y="2514600"/>
            <a:ext cx="91440" cy="27432"/>
          </a:xfrm>
          <a:prstGeom prst="rect">
            <a:avLst/>
          </a:prstGeom>
          <a:solidFill>
            <a:srgbClr val="6B65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0378440" y="1627632"/>
            <a:ext cx="1783080" cy="2011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0378440" y="1627632"/>
            <a:ext cx="17830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515600" y="1737360"/>
            <a:ext cx="548640" cy="347472"/>
          </a:xfrm>
          <a:prstGeom prst="rect">
            <a:avLst/>
          </a:prstGeom>
          <a:noFill/>
        </p:spPr>
        <p:txBody>
          <a:bodyPr wrap="square">
            <a:spAutoFit/>
          </a:bodyPr>
          <a:lstStyle/>
          <a:p>
            <a:pPr algn="l"/>
            <a:r>
              <a:rPr sz="1800" b="1" i="0">
                <a:solidFill>
                  <a:srgbClr val="6B7FB5"/>
                </a:solidFill>
              </a:rPr>
              <a:t>06</a:t>
            </a:r>
          </a:p>
        </p:txBody>
      </p:sp>
      <p:sp>
        <p:nvSpPr>
          <p:cNvPr id="47" name="TextBox 46"/>
          <p:cNvSpPr txBox="1"/>
          <p:nvPr/>
        </p:nvSpPr>
        <p:spPr>
          <a:xfrm>
            <a:off x="10515600" y="2103120"/>
            <a:ext cx="1600200" cy="274320"/>
          </a:xfrm>
          <a:prstGeom prst="rect">
            <a:avLst/>
          </a:prstGeom>
          <a:noFill/>
        </p:spPr>
        <p:txBody>
          <a:bodyPr wrap="square">
            <a:spAutoFit/>
          </a:bodyPr>
          <a:lstStyle/>
          <a:p>
            <a:pPr algn="l"/>
            <a:r>
              <a:rPr sz="900" b="1" i="0">
                <a:solidFill>
                  <a:srgbClr val="FAF8F4"/>
                </a:solidFill>
              </a:rPr>
              <a:t>VOICE OF JARVIS</a:t>
            </a:r>
          </a:p>
        </p:txBody>
      </p:sp>
      <p:sp>
        <p:nvSpPr>
          <p:cNvPr id="48" name="TextBox 47"/>
          <p:cNvSpPr txBox="1"/>
          <p:nvPr/>
        </p:nvSpPr>
        <p:spPr>
          <a:xfrm>
            <a:off x="10515600" y="2423160"/>
            <a:ext cx="1600200" cy="1097280"/>
          </a:xfrm>
          <a:prstGeom prst="rect">
            <a:avLst/>
          </a:prstGeom>
          <a:noFill/>
        </p:spPr>
        <p:txBody>
          <a:bodyPr wrap="square">
            <a:spAutoFit/>
          </a:bodyPr>
          <a:lstStyle/>
          <a:p>
            <a:pPr algn="l"/>
            <a:r>
              <a:rPr sz="1000" b="0" i="0">
                <a:solidFill>
                  <a:srgbClr val="9C9488"/>
                </a:solidFill>
              </a:rPr>
              <a:t>Warm, human response
synthesised by
Jarvis AI</a:t>
            </a:r>
          </a:p>
        </p:txBody>
      </p:sp>
      <p:sp>
        <p:nvSpPr>
          <p:cNvPr id="49" name="TextBox 48"/>
          <p:cNvSpPr txBox="1"/>
          <p:nvPr/>
        </p:nvSpPr>
        <p:spPr>
          <a:xfrm>
            <a:off x="548640" y="3858768"/>
            <a:ext cx="4572000" cy="256032"/>
          </a:xfrm>
          <a:prstGeom prst="rect">
            <a:avLst/>
          </a:prstGeom>
          <a:noFill/>
        </p:spPr>
        <p:txBody>
          <a:bodyPr wrap="square">
            <a:spAutoFit/>
          </a:bodyPr>
          <a:lstStyle/>
          <a:p>
            <a:pPr algn="l"/>
            <a:r>
              <a:rPr sz="1100" b="1" i="0">
                <a:solidFill>
                  <a:srgbClr val="FAF8F4"/>
                </a:solidFill>
              </a:rPr>
              <a:t>What makes each step intelligent:</a:t>
            </a:r>
          </a:p>
        </p:txBody>
      </p:sp>
      <p:sp>
        <p:nvSpPr>
          <p:cNvPr id="50" name="Rectangle 49"/>
          <p:cNvSpPr/>
          <p:nvPr/>
        </p:nvSpPr>
        <p:spPr>
          <a:xfrm>
            <a:off x="548640" y="4297680"/>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31520" y="4206240"/>
            <a:ext cx="10332720" cy="347472"/>
          </a:xfrm>
          <a:prstGeom prst="rect">
            <a:avLst/>
          </a:prstGeom>
          <a:noFill/>
        </p:spPr>
        <p:txBody>
          <a:bodyPr wrap="square">
            <a:spAutoFit/>
          </a:bodyPr>
          <a:lstStyle/>
          <a:p>
            <a:pPr algn="l"/>
            <a:r>
              <a:rPr sz="1200" b="0" i="0">
                <a:solidFill>
                  <a:srgbClr val="FAF8F4"/>
                </a:solidFill>
              </a:rPr>
              <a:t>Jarvis AI engine is local-first, privacy-first — your data never leaves your device.</a:t>
            </a:r>
          </a:p>
        </p:txBody>
      </p:sp>
      <p:sp>
        <p:nvSpPr>
          <p:cNvPr id="52" name="Rectangle 51"/>
          <p:cNvSpPr/>
          <p:nvPr/>
        </p:nvSpPr>
        <p:spPr>
          <a:xfrm>
            <a:off x="548640" y="468172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4590288"/>
            <a:ext cx="10332720" cy="347472"/>
          </a:xfrm>
          <a:prstGeom prst="rect">
            <a:avLst/>
          </a:prstGeom>
          <a:noFill/>
        </p:spPr>
        <p:txBody>
          <a:bodyPr wrap="square">
            <a:spAutoFit/>
          </a:bodyPr>
          <a:lstStyle/>
          <a:p>
            <a:pPr algn="l"/>
            <a:r>
              <a:rPr sz="1200" b="0" i="0">
                <a:solidFill>
                  <a:srgbClr val="FAF8F4"/>
                </a:solidFill>
              </a:rPr>
              <a:t>Our scheduling engine uses constraint satisfaction mathematics — produces provably valid plans, not AI guesses.</a:t>
            </a:r>
          </a:p>
        </p:txBody>
      </p:sp>
      <p:sp>
        <p:nvSpPr>
          <p:cNvPr id="54" name="Rectangle 53"/>
          <p:cNvSpPr/>
          <p:nvPr/>
        </p:nvSpPr>
        <p:spPr>
          <a:xfrm>
            <a:off x="548640" y="5065776"/>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31520" y="4974336"/>
            <a:ext cx="10332720" cy="347472"/>
          </a:xfrm>
          <a:prstGeom prst="rect">
            <a:avLst/>
          </a:prstGeom>
          <a:noFill/>
        </p:spPr>
        <p:txBody>
          <a:bodyPr wrap="square">
            <a:spAutoFit/>
          </a:bodyPr>
          <a:lstStyle/>
          <a:p>
            <a:pPr algn="l"/>
            <a:r>
              <a:rPr sz="1200" b="0" i="0">
                <a:solidFill>
                  <a:srgbClr val="FAF8F4"/>
                </a:solidFill>
              </a:rPr>
              <a:t>Draft negotiation loop — you're never locked in. Edit any task, Jarvis re-solves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03 / THE PSYCHOLOGY ENGINE</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Every task is psychologically engineered.</a:t>
            </a:r>
          </a:p>
        </p:txBody>
      </p:sp>
      <p:sp>
        <p:nvSpPr>
          <p:cNvPr id="13" name="TextBox 12"/>
          <p:cNvSpPr txBox="1"/>
          <p:nvPr/>
        </p:nvSpPr>
        <p:spPr>
          <a:xfrm>
            <a:off x="548640" y="1188720"/>
            <a:ext cx="9144000" cy="292608"/>
          </a:xfrm>
          <a:prstGeom prst="rect">
            <a:avLst/>
          </a:prstGeom>
          <a:noFill/>
        </p:spPr>
        <p:txBody>
          <a:bodyPr wrap="square">
            <a:spAutoFit/>
          </a:bodyPr>
          <a:lstStyle/>
          <a:p>
            <a:pPr algn="l"/>
            <a:r>
              <a:rPr sz="1300" b="0" i="0">
                <a:solidFill>
                  <a:srgbClr val="9C9488"/>
                </a:solidFill>
              </a:rPr>
              <a:t>Five proven frameworks baked into the architecture — not bolted on as features.</a:t>
            </a:r>
          </a:p>
        </p:txBody>
      </p:sp>
      <p:sp>
        <p:nvSpPr>
          <p:cNvPr id="14" name="Rectangle 13"/>
          <p:cNvSpPr/>
          <p:nvPr/>
        </p:nvSpPr>
        <p:spPr>
          <a:xfrm>
            <a:off x="457200"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1773936"/>
            <a:ext cx="2011680" cy="347472"/>
          </a:xfrm>
          <a:prstGeom prst="rect">
            <a:avLst/>
          </a:prstGeom>
          <a:noFill/>
        </p:spPr>
        <p:txBody>
          <a:bodyPr wrap="square">
            <a:spAutoFit/>
          </a:bodyPr>
          <a:lstStyle/>
          <a:p>
            <a:pPr algn="l"/>
            <a:r>
              <a:rPr sz="1400" b="1" i="0">
                <a:solidFill>
                  <a:srgbClr val="D4775A"/>
                </a:solidFill>
              </a:rPr>
              <a:t>WOOP</a:t>
            </a:r>
          </a:p>
        </p:txBody>
      </p:sp>
      <p:sp>
        <p:nvSpPr>
          <p:cNvPr id="17" name="TextBox 16"/>
          <p:cNvSpPr txBox="1"/>
          <p:nvPr/>
        </p:nvSpPr>
        <p:spPr>
          <a:xfrm>
            <a:off x="621792" y="2103120"/>
            <a:ext cx="2011680" cy="256032"/>
          </a:xfrm>
          <a:prstGeom prst="rect">
            <a:avLst/>
          </a:prstGeom>
          <a:noFill/>
        </p:spPr>
        <p:txBody>
          <a:bodyPr wrap="square">
            <a:spAutoFit/>
          </a:bodyPr>
          <a:lstStyle/>
          <a:p>
            <a:pPr algn="l"/>
            <a:r>
              <a:rPr sz="900" b="1" i="0">
                <a:solidFill>
                  <a:srgbClr val="FAF8F4"/>
                </a:solidFill>
              </a:rPr>
              <a:t>Wish · Outcome · Obstacle · Plan</a:t>
            </a:r>
          </a:p>
        </p:txBody>
      </p:sp>
      <p:sp>
        <p:nvSpPr>
          <p:cNvPr id="18" name="TextBox 17"/>
          <p:cNvSpPr txBox="1"/>
          <p:nvPr/>
        </p:nvSpPr>
        <p:spPr>
          <a:xfrm>
            <a:off x="621792" y="2395728"/>
            <a:ext cx="2011680" cy="1691640"/>
          </a:xfrm>
          <a:prstGeom prst="rect">
            <a:avLst/>
          </a:prstGeom>
          <a:noFill/>
        </p:spPr>
        <p:txBody>
          <a:bodyPr wrap="square">
            <a:spAutoFit/>
          </a:bodyPr>
          <a:lstStyle/>
          <a:p>
            <a:pPr algn="l"/>
            <a:r>
              <a:rPr sz="1000" b="0" i="0">
                <a:solidFill>
                  <a:srgbClr val="9C9488"/>
                </a:solidFill>
              </a:rPr>
              <a:t>Every task chunk has an implementation intention: a concrete if-then response to the most likely obstacle. Turns vague goals into executable micro-commitments.</a:t>
            </a:r>
          </a:p>
        </p:txBody>
      </p:sp>
      <p:sp>
        <p:nvSpPr>
          <p:cNvPr id="19" name="Rectangle 18"/>
          <p:cNvSpPr/>
          <p:nvPr/>
        </p:nvSpPr>
        <p:spPr>
          <a:xfrm>
            <a:off x="2843784"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843784"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008376" y="1773936"/>
            <a:ext cx="2011680" cy="347472"/>
          </a:xfrm>
          <a:prstGeom prst="rect">
            <a:avLst/>
          </a:prstGeom>
          <a:noFill/>
        </p:spPr>
        <p:txBody>
          <a:bodyPr wrap="square">
            <a:spAutoFit/>
          </a:bodyPr>
          <a:lstStyle/>
          <a:p>
            <a:pPr algn="l"/>
            <a:r>
              <a:rPr sz="1400" b="1" i="0">
                <a:solidFill>
                  <a:srgbClr val="E09D5C"/>
                </a:solidFill>
              </a:rPr>
              <a:t>CLT</a:t>
            </a:r>
          </a:p>
        </p:txBody>
      </p:sp>
      <p:sp>
        <p:nvSpPr>
          <p:cNvPr id="22" name="TextBox 21"/>
          <p:cNvSpPr txBox="1"/>
          <p:nvPr/>
        </p:nvSpPr>
        <p:spPr>
          <a:xfrm>
            <a:off x="3008376" y="2103120"/>
            <a:ext cx="2011680" cy="256032"/>
          </a:xfrm>
          <a:prstGeom prst="rect">
            <a:avLst/>
          </a:prstGeom>
          <a:noFill/>
        </p:spPr>
        <p:txBody>
          <a:bodyPr wrap="square">
            <a:spAutoFit/>
          </a:bodyPr>
          <a:lstStyle/>
          <a:p>
            <a:pPr algn="l"/>
            <a:r>
              <a:rPr sz="900" b="1" i="0">
                <a:solidFill>
                  <a:srgbClr val="FAF8F4"/>
                </a:solidFill>
              </a:rPr>
              <a:t>Cognitive Load Theory</a:t>
            </a:r>
          </a:p>
        </p:txBody>
      </p:sp>
      <p:sp>
        <p:nvSpPr>
          <p:cNvPr id="23" name="TextBox 22"/>
          <p:cNvSpPr txBox="1"/>
          <p:nvPr/>
        </p:nvSpPr>
        <p:spPr>
          <a:xfrm>
            <a:off x="3008376" y="2395728"/>
            <a:ext cx="2011680" cy="1691640"/>
          </a:xfrm>
          <a:prstGeom prst="rect">
            <a:avLst/>
          </a:prstGeom>
          <a:noFill/>
        </p:spPr>
        <p:txBody>
          <a:bodyPr wrap="square">
            <a:spAutoFit/>
          </a:bodyPr>
          <a:lstStyle/>
          <a:p>
            <a:pPr algn="l"/>
            <a:r>
              <a:rPr sz="1000" b="0" i="0">
                <a:solidFill>
                  <a:srgbClr val="9C9488"/>
                </a:solidFill>
              </a:rPr>
              <a:t>Tasks capped at ≤25 minutes. Completion criteria require active recall, not passive review. Germane load (schema-building) maximised; extraneous load (friction) minimised.</a:t>
            </a:r>
          </a:p>
        </p:txBody>
      </p:sp>
      <p:sp>
        <p:nvSpPr>
          <p:cNvPr id="24" name="Rectangle 23"/>
          <p:cNvSpPr/>
          <p:nvPr/>
        </p:nvSpPr>
        <p:spPr>
          <a:xfrm>
            <a:off x="5230368"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30368" y="1627632"/>
            <a:ext cx="2240280"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394960" y="1773936"/>
            <a:ext cx="2011680" cy="347472"/>
          </a:xfrm>
          <a:prstGeom prst="rect">
            <a:avLst/>
          </a:prstGeom>
          <a:noFill/>
        </p:spPr>
        <p:txBody>
          <a:bodyPr wrap="square">
            <a:spAutoFit/>
          </a:bodyPr>
          <a:lstStyle/>
          <a:p>
            <a:pPr algn="l"/>
            <a:r>
              <a:rPr sz="1400" b="1" i="0">
                <a:solidFill>
                  <a:srgbClr val="6B7FB5"/>
                </a:solidFill>
              </a:rPr>
              <a:t>TMT</a:t>
            </a:r>
          </a:p>
        </p:txBody>
      </p:sp>
      <p:sp>
        <p:nvSpPr>
          <p:cNvPr id="27" name="TextBox 26"/>
          <p:cNvSpPr txBox="1"/>
          <p:nvPr/>
        </p:nvSpPr>
        <p:spPr>
          <a:xfrm>
            <a:off x="5394960" y="2103120"/>
            <a:ext cx="2011680" cy="256032"/>
          </a:xfrm>
          <a:prstGeom prst="rect">
            <a:avLst/>
          </a:prstGeom>
          <a:noFill/>
        </p:spPr>
        <p:txBody>
          <a:bodyPr wrap="square">
            <a:spAutoFit/>
          </a:bodyPr>
          <a:lstStyle/>
          <a:p>
            <a:pPr algn="l"/>
            <a:r>
              <a:rPr sz="900" b="1" i="0">
                <a:solidFill>
                  <a:srgbClr val="FAF8F4"/>
                </a:solidFill>
              </a:rPr>
              <a:t>Temporal Motivation Theory</a:t>
            </a:r>
          </a:p>
        </p:txBody>
      </p:sp>
      <p:sp>
        <p:nvSpPr>
          <p:cNvPr id="28" name="TextBox 27"/>
          <p:cNvSpPr txBox="1"/>
          <p:nvPr/>
        </p:nvSpPr>
        <p:spPr>
          <a:xfrm>
            <a:off x="5394960" y="2395728"/>
            <a:ext cx="2011680" cy="1691640"/>
          </a:xfrm>
          <a:prstGeom prst="rect">
            <a:avLst/>
          </a:prstGeom>
          <a:noFill/>
        </p:spPr>
        <p:txBody>
          <a:bodyPr wrap="square">
            <a:spAutoFit/>
          </a:bodyPr>
          <a:lstStyle/>
          <a:p>
            <a:pPr algn="l"/>
            <a:r>
              <a:rPr sz="1000" b="0" i="0">
                <a:solidFill>
                  <a:srgbClr val="9C9488"/>
                </a:solidFill>
              </a:rPr>
              <a:t>Motivation = (Expectancy × Value) / (Impulsiveness × Delay). Deadlines become integer priority weights in Jarvis's scheduling engine — nearer deadline = scheduled earlier, automatically.</a:t>
            </a:r>
          </a:p>
        </p:txBody>
      </p:sp>
      <p:sp>
        <p:nvSpPr>
          <p:cNvPr id="29" name="Rectangle 28"/>
          <p:cNvSpPr/>
          <p:nvPr/>
        </p:nvSpPr>
        <p:spPr>
          <a:xfrm>
            <a:off x="7616952"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616952" y="1627632"/>
            <a:ext cx="2240280"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781544" y="1773936"/>
            <a:ext cx="2011680" cy="347472"/>
          </a:xfrm>
          <a:prstGeom prst="rect">
            <a:avLst/>
          </a:prstGeom>
          <a:noFill/>
        </p:spPr>
        <p:txBody>
          <a:bodyPr wrap="square">
            <a:spAutoFit/>
          </a:bodyPr>
          <a:lstStyle/>
          <a:p>
            <a:pPr algn="l"/>
            <a:r>
              <a:rPr sz="1400" b="1" i="0">
                <a:solidFill>
                  <a:srgbClr val="D4775A"/>
                </a:solidFill>
              </a:rPr>
              <a:t>SM-2</a:t>
            </a:r>
          </a:p>
        </p:txBody>
      </p:sp>
      <p:sp>
        <p:nvSpPr>
          <p:cNvPr id="32" name="TextBox 31"/>
          <p:cNvSpPr txBox="1"/>
          <p:nvPr/>
        </p:nvSpPr>
        <p:spPr>
          <a:xfrm>
            <a:off x="7781544" y="2103120"/>
            <a:ext cx="2011680" cy="256032"/>
          </a:xfrm>
          <a:prstGeom prst="rect">
            <a:avLst/>
          </a:prstGeom>
          <a:noFill/>
        </p:spPr>
        <p:txBody>
          <a:bodyPr wrap="square">
            <a:spAutoFit/>
          </a:bodyPr>
          <a:lstStyle/>
          <a:p>
            <a:pPr algn="l"/>
            <a:r>
              <a:rPr sz="900" b="1" i="0">
                <a:solidFill>
                  <a:srgbClr val="FAF8F4"/>
                </a:solidFill>
              </a:rPr>
              <a:t>Spaced Repetition (Ebbinghaus)</a:t>
            </a:r>
          </a:p>
        </p:txBody>
      </p:sp>
      <p:sp>
        <p:nvSpPr>
          <p:cNvPr id="33" name="TextBox 32"/>
          <p:cNvSpPr txBox="1"/>
          <p:nvPr/>
        </p:nvSpPr>
        <p:spPr>
          <a:xfrm>
            <a:off x="7781544" y="2395728"/>
            <a:ext cx="2011680" cy="1691640"/>
          </a:xfrm>
          <a:prstGeom prst="rect">
            <a:avLst/>
          </a:prstGeom>
          <a:noFill/>
        </p:spPr>
        <p:txBody>
          <a:bodyPr wrap="square">
            <a:spAutoFit/>
          </a:bodyPr>
          <a:lstStyle/>
          <a:p>
            <a:pPr algn="l"/>
            <a:r>
              <a:rPr sz="1000" b="0" i="0">
                <a:solidFill>
                  <a:srgbClr val="9C9488"/>
                </a:solidFill>
              </a:rPr>
              <a:t>Habits tracked with SM-2 ease factor. Each completion updates the next review interval. Memory and routine strength decay mathematically — Jarvis resurfaces them at the right moment.</a:t>
            </a:r>
          </a:p>
        </p:txBody>
      </p:sp>
      <p:sp>
        <p:nvSpPr>
          <p:cNvPr id="34" name="Rectangle 33"/>
          <p:cNvSpPr/>
          <p:nvPr/>
        </p:nvSpPr>
        <p:spPr>
          <a:xfrm>
            <a:off x="10003536" y="1627632"/>
            <a:ext cx="2240280" cy="26060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0003536" y="1627632"/>
            <a:ext cx="224028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0168128" y="1773936"/>
            <a:ext cx="2011680" cy="347472"/>
          </a:xfrm>
          <a:prstGeom prst="rect">
            <a:avLst/>
          </a:prstGeom>
          <a:noFill/>
        </p:spPr>
        <p:txBody>
          <a:bodyPr wrap="square">
            <a:spAutoFit/>
          </a:bodyPr>
          <a:lstStyle/>
          <a:p>
            <a:pPr algn="l"/>
            <a:r>
              <a:rPr sz="1400" b="1" i="0">
                <a:solidFill>
                  <a:srgbClr val="E09D5C"/>
                </a:solidFill>
              </a:rPr>
              <a:t>Anti-Guilt</a:t>
            </a:r>
          </a:p>
        </p:txBody>
      </p:sp>
      <p:sp>
        <p:nvSpPr>
          <p:cNvPr id="37" name="TextBox 36"/>
          <p:cNvSpPr txBox="1"/>
          <p:nvPr/>
        </p:nvSpPr>
        <p:spPr>
          <a:xfrm>
            <a:off x="10168128" y="2103120"/>
            <a:ext cx="2011680" cy="256032"/>
          </a:xfrm>
          <a:prstGeom prst="rect">
            <a:avLst/>
          </a:prstGeom>
          <a:noFill/>
        </p:spPr>
        <p:txBody>
          <a:bodyPr wrap="square">
            <a:spAutoFit/>
          </a:bodyPr>
          <a:lstStyle/>
          <a:p>
            <a:pPr algn="l"/>
            <a:r>
              <a:rPr sz="900" b="1" i="0">
                <a:solidFill>
                  <a:srgbClr val="FAF8F4"/>
                </a:solidFill>
              </a:rPr>
              <a:t>INFEASIBLE ≠ User Failure</a:t>
            </a:r>
          </a:p>
        </p:txBody>
      </p:sp>
      <p:sp>
        <p:nvSpPr>
          <p:cNvPr id="38" name="TextBox 37"/>
          <p:cNvSpPr txBox="1"/>
          <p:nvPr/>
        </p:nvSpPr>
        <p:spPr>
          <a:xfrm>
            <a:off x="10168128" y="2395728"/>
            <a:ext cx="2011680" cy="1691640"/>
          </a:xfrm>
          <a:prstGeom prst="rect">
            <a:avLst/>
          </a:prstGeom>
          <a:noFill/>
        </p:spPr>
        <p:txBody>
          <a:bodyPr wrap="square">
            <a:spAutoFit/>
          </a:bodyPr>
          <a:lstStyle/>
          <a:p>
            <a:pPr algn="l"/>
            <a:r>
              <a:rPr sz="1000" b="0" i="0">
                <a:solidFill>
                  <a:srgbClr val="9C9488"/>
                </a:solidFill>
              </a:rPr>
              <a:t>When the solver can't fit everything, Jarvis explains why — too much scope, not enough time — and guides recalibration. No guilt. No judgment. Just math.</a:t>
            </a:r>
          </a:p>
        </p:txBody>
      </p:sp>
      <p:sp>
        <p:nvSpPr>
          <p:cNvPr id="39" name="TextBox 38"/>
          <p:cNvSpPr txBox="1"/>
          <p:nvPr/>
        </p:nvSpPr>
        <p:spPr>
          <a:xfrm>
            <a:off x="548640" y="4434840"/>
            <a:ext cx="10515600" cy="320040"/>
          </a:xfrm>
          <a:prstGeom prst="rect">
            <a:avLst/>
          </a:prstGeom>
          <a:noFill/>
        </p:spPr>
        <p:txBody>
          <a:bodyPr wrap="square">
            <a:spAutoFit/>
          </a:bodyPr>
          <a:lstStyle/>
          <a:p>
            <a:pPr algn="l"/>
            <a:r>
              <a:rPr sz="1300" b="1" i="0">
                <a:solidFill>
                  <a:srgbClr val="FAF8F4"/>
                </a:solidFill>
              </a:rPr>
              <a:t>Result: users don't just get a schedule — they get a plan that accounts for human psychology, not just hours.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04 / TECHNICAL MOAT + USPs</a:t>
            </a:r>
          </a:p>
        </p:txBody>
      </p:sp>
      <p:sp>
        <p:nvSpPr>
          <p:cNvPr id="12" name="TextBox 11"/>
          <p:cNvSpPr txBox="1"/>
          <p:nvPr/>
        </p:nvSpPr>
        <p:spPr>
          <a:xfrm>
            <a:off x="548640" y="594360"/>
            <a:ext cx="9144000" cy="548640"/>
          </a:xfrm>
          <a:prstGeom prst="rect">
            <a:avLst/>
          </a:prstGeom>
          <a:noFill/>
        </p:spPr>
        <p:txBody>
          <a:bodyPr wrap="square">
            <a:spAutoFit/>
          </a:bodyPr>
          <a:lstStyle/>
          <a:p>
            <a:pPr algn="l"/>
            <a:r>
              <a:rPr sz="3000" b="1" i="0">
                <a:solidFill>
                  <a:srgbClr val="FAF8F4"/>
                </a:solidFill>
              </a:rPr>
              <a:t>Why this can't be replicated in a weekend.</a:t>
            </a:r>
          </a:p>
        </p:txBody>
      </p:sp>
      <p:sp>
        <p:nvSpPr>
          <p:cNvPr id="13" name="Rectangle 12"/>
          <p:cNvSpPr/>
          <p:nvPr/>
        </p:nvSpPr>
        <p:spPr>
          <a:xfrm>
            <a:off x="457200"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417320"/>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527048"/>
            <a:ext cx="3474719" cy="274320"/>
          </a:xfrm>
          <a:prstGeom prst="rect">
            <a:avLst/>
          </a:prstGeom>
          <a:noFill/>
        </p:spPr>
        <p:txBody>
          <a:bodyPr wrap="square">
            <a:spAutoFit/>
          </a:bodyPr>
          <a:lstStyle/>
          <a:p>
            <a:pPr algn="l"/>
            <a:r>
              <a:rPr sz="1200" b="1" i="0">
                <a:solidFill>
                  <a:srgbClr val="D4775A"/>
                </a:solidFill>
              </a:rPr>
              <a:t>Local-First AI</a:t>
            </a:r>
          </a:p>
        </p:txBody>
      </p:sp>
      <p:sp>
        <p:nvSpPr>
          <p:cNvPr id="16" name="TextBox 15"/>
          <p:cNvSpPr txBox="1"/>
          <p:nvPr/>
        </p:nvSpPr>
        <p:spPr>
          <a:xfrm>
            <a:off x="640080" y="1828800"/>
            <a:ext cx="3474719" cy="914400"/>
          </a:xfrm>
          <a:prstGeom prst="rect">
            <a:avLst/>
          </a:prstGeom>
          <a:noFill/>
        </p:spPr>
        <p:txBody>
          <a:bodyPr wrap="square">
            <a:spAutoFit/>
          </a:bodyPr>
          <a:lstStyle/>
          <a:p>
            <a:pPr algn="l"/>
            <a:r>
              <a:rPr sz="1000" b="0" i="0">
                <a:solidFill>
                  <a:srgbClr val="9C9488"/>
                </a:solidFill>
              </a:rPr>
              <a:t>LLMs run on-device. No data leaves the user's machine. Privacy-first by architecture — not a policy checkbox. Cloud only when explicitly needed (real-time search).</a:t>
            </a:r>
          </a:p>
        </p:txBody>
      </p:sp>
      <p:sp>
        <p:nvSpPr>
          <p:cNvPr id="17" name="Rectangle 16"/>
          <p:cNvSpPr/>
          <p:nvPr/>
        </p:nvSpPr>
        <p:spPr>
          <a:xfrm>
            <a:off x="4352543"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52543" y="1417320"/>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35423" y="1527048"/>
            <a:ext cx="3474719" cy="274320"/>
          </a:xfrm>
          <a:prstGeom prst="rect">
            <a:avLst/>
          </a:prstGeom>
          <a:noFill/>
        </p:spPr>
        <p:txBody>
          <a:bodyPr wrap="square">
            <a:spAutoFit/>
          </a:bodyPr>
          <a:lstStyle/>
          <a:p>
            <a:pPr algn="l"/>
            <a:r>
              <a:rPr sz="1200" b="1" i="0">
                <a:solidFill>
                  <a:srgbClr val="E09D5C"/>
                </a:solidFill>
              </a:rPr>
              <a:t>Deterministic Scheduler</a:t>
            </a:r>
          </a:p>
        </p:txBody>
      </p:sp>
      <p:sp>
        <p:nvSpPr>
          <p:cNvPr id="20" name="TextBox 19"/>
          <p:cNvSpPr txBox="1"/>
          <p:nvPr/>
        </p:nvSpPr>
        <p:spPr>
          <a:xfrm>
            <a:off x="4535423" y="1828800"/>
            <a:ext cx="3474719" cy="914400"/>
          </a:xfrm>
          <a:prstGeom prst="rect">
            <a:avLst/>
          </a:prstGeom>
          <a:noFill/>
        </p:spPr>
        <p:txBody>
          <a:bodyPr wrap="square">
            <a:spAutoFit/>
          </a:bodyPr>
          <a:lstStyle/>
          <a:p>
            <a:pPr algn="l"/>
            <a:r>
              <a:rPr sz="1000" b="0" i="0">
                <a:solidFill>
                  <a:srgbClr val="9C9488"/>
                </a:solidFill>
              </a:rPr>
              <a:t>Constraint satisfaction mathematics builds provably valid plans. Hard constraints (sleep, meetings) are enforced, not suggested. Zero AI guesses — every plan is mathematically feasible.</a:t>
            </a:r>
          </a:p>
        </p:txBody>
      </p:sp>
      <p:sp>
        <p:nvSpPr>
          <p:cNvPr id="21" name="Rectangle 20"/>
          <p:cNvSpPr/>
          <p:nvPr/>
        </p:nvSpPr>
        <p:spPr>
          <a:xfrm>
            <a:off x="8247886" y="1417320"/>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47886" y="1417320"/>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6" y="1527048"/>
            <a:ext cx="3474719" cy="274320"/>
          </a:xfrm>
          <a:prstGeom prst="rect">
            <a:avLst/>
          </a:prstGeom>
          <a:noFill/>
        </p:spPr>
        <p:txBody>
          <a:bodyPr wrap="square">
            <a:spAutoFit/>
          </a:bodyPr>
          <a:lstStyle/>
          <a:p>
            <a:pPr algn="l"/>
            <a:r>
              <a:rPr sz="1200" b="1" i="0">
                <a:solidFill>
                  <a:srgbClr val="6B7FB5"/>
                </a:solidFill>
              </a:rPr>
              <a:t>PEARL Memory Engine</a:t>
            </a:r>
          </a:p>
        </p:txBody>
      </p:sp>
      <p:sp>
        <p:nvSpPr>
          <p:cNvPr id="24" name="TextBox 23"/>
          <p:cNvSpPr txBox="1"/>
          <p:nvPr/>
        </p:nvSpPr>
        <p:spPr>
          <a:xfrm>
            <a:off x="8430766" y="1828800"/>
            <a:ext cx="3474719" cy="914400"/>
          </a:xfrm>
          <a:prstGeom prst="rect">
            <a:avLst/>
          </a:prstGeom>
          <a:noFill/>
        </p:spPr>
        <p:txBody>
          <a:bodyPr wrap="square">
            <a:spAutoFit/>
          </a:bodyPr>
          <a:lstStyle/>
          <a:p>
            <a:pPr algn="l"/>
            <a:r>
              <a:rPr sz="1000" b="0" i="0">
                <a:solidFill>
                  <a:srgbClr val="9C9488"/>
                </a:solidFill>
              </a:rPr>
              <a:t>Jarvis observes behaviour (skips, edits, rejections) and injects inferred patterns as constraints into the solver. The longer you use it, the more it knows you.</a:t>
            </a:r>
          </a:p>
        </p:txBody>
      </p:sp>
      <p:sp>
        <p:nvSpPr>
          <p:cNvPr id="25" name="Rectangle 24"/>
          <p:cNvSpPr/>
          <p:nvPr/>
        </p:nvSpPr>
        <p:spPr>
          <a:xfrm>
            <a:off x="457200"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962656"/>
            <a:ext cx="54864" cy="14173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3072384"/>
            <a:ext cx="3474719" cy="274320"/>
          </a:xfrm>
          <a:prstGeom prst="rect">
            <a:avLst/>
          </a:prstGeom>
          <a:noFill/>
        </p:spPr>
        <p:txBody>
          <a:bodyPr wrap="square">
            <a:spAutoFit/>
          </a:bodyPr>
          <a:lstStyle/>
          <a:p>
            <a:pPr algn="l"/>
            <a:r>
              <a:rPr sz="1200" b="1" i="0">
                <a:solidFill>
                  <a:srgbClr val="D4775A"/>
                </a:solidFill>
              </a:rPr>
              <a:t>3-Tier Memory</a:t>
            </a:r>
          </a:p>
        </p:txBody>
      </p:sp>
      <p:sp>
        <p:nvSpPr>
          <p:cNvPr id="28" name="TextBox 27"/>
          <p:cNvSpPr txBox="1"/>
          <p:nvPr/>
        </p:nvSpPr>
        <p:spPr>
          <a:xfrm>
            <a:off x="640080" y="3374136"/>
            <a:ext cx="3474719" cy="914400"/>
          </a:xfrm>
          <a:prstGeom prst="rect">
            <a:avLst/>
          </a:prstGeom>
          <a:noFill/>
        </p:spPr>
        <p:txBody>
          <a:bodyPr wrap="square">
            <a:spAutoFit/>
          </a:bodyPr>
          <a:lstStyle/>
          <a:p>
            <a:pPr algn="l"/>
            <a:r>
              <a:rPr sz="1000" b="0" i="0">
                <a:solidFill>
                  <a:srgbClr val="9C9488"/>
                </a:solidFill>
              </a:rPr>
              <a:t>Multi-tier working / recall / archival memory with decay scoring. Memories don't just change what Jarvis says — they change the mathematical constraints in the scheduler.</a:t>
            </a:r>
          </a:p>
        </p:txBody>
      </p:sp>
      <p:sp>
        <p:nvSpPr>
          <p:cNvPr id="29" name="Rectangle 28"/>
          <p:cNvSpPr/>
          <p:nvPr/>
        </p:nvSpPr>
        <p:spPr>
          <a:xfrm>
            <a:off x="4352543"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52543" y="2962656"/>
            <a:ext cx="54864" cy="14173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35423" y="3072384"/>
            <a:ext cx="3474719" cy="274320"/>
          </a:xfrm>
          <a:prstGeom prst="rect">
            <a:avLst/>
          </a:prstGeom>
          <a:noFill/>
        </p:spPr>
        <p:txBody>
          <a:bodyPr wrap="square">
            <a:spAutoFit/>
          </a:bodyPr>
          <a:lstStyle/>
          <a:p>
            <a:pPr algn="l"/>
            <a:r>
              <a:rPr sz="1200" b="1" i="0">
                <a:solidFill>
                  <a:srgbClr val="E09D5C"/>
                </a:solidFill>
              </a:rPr>
              <a:t>Self-Evolving Intents</a:t>
            </a:r>
          </a:p>
        </p:txBody>
      </p:sp>
      <p:sp>
        <p:nvSpPr>
          <p:cNvPr id="32" name="TextBox 31"/>
          <p:cNvSpPr txBox="1"/>
          <p:nvPr/>
        </p:nvSpPr>
        <p:spPr>
          <a:xfrm>
            <a:off x="4535423" y="3374136"/>
            <a:ext cx="3474719" cy="914400"/>
          </a:xfrm>
          <a:prstGeom prst="rect">
            <a:avLst/>
          </a:prstGeom>
          <a:noFill/>
        </p:spPr>
        <p:txBody>
          <a:bodyPr wrap="square">
            <a:spAutoFit/>
          </a:bodyPr>
          <a:lstStyle/>
          <a:p>
            <a:pPr algn="l"/>
            <a:r>
              <a:rPr sz="1000" b="0" i="0">
                <a:solidFill>
                  <a:srgbClr val="9C9488"/>
                </a:solidFill>
              </a:rPr>
              <a:t>Embedding similarity detects novel user patterns. Gemini auto-generates an IntentBlueprint. Jarvis learns new capabilities without code changes.</a:t>
            </a:r>
          </a:p>
        </p:txBody>
      </p:sp>
      <p:sp>
        <p:nvSpPr>
          <p:cNvPr id="33" name="Rectangle 32"/>
          <p:cNvSpPr/>
          <p:nvPr/>
        </p:nvSpPr>
        <p:spPr>
          <a:xfrm>
            <a:off x="8247886" y="2962656"/>
            <a:ext cx="3749039" cy="141732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247886" y="2962656"/>
            <a:ext cx="54864" cy="14173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30766" y="3072384"/>
            <a:ext cx="3474719" cy="274320"/>
          </a:xfrm>
          <a:prstGeom prst="rect">
            <a:avLst/>
          </a:prstGeom>
          <a:noFill/>
        </p:spPr>
        <p:txBody>
          <a:bodyPr wrap="square">
            <a:spAutoFit/>
          </a:bodyPr>
          <a:lstStyle/>
          <a:p>
            <a:pPr algn="l"/>
            <a:r>
              <a:rPr sz="1200" b="1" i="0">
                <a:solidFill>
                  <a:srgbClr val="6B7FB5"/>
                </a:solidFill>
              </a:rPr>
              <a:t>Anti-Guilt Architecture</a:t>
            </a:r>
          </a:p>
        </p:txBody>
      </p:sp>
      <p:sp>
        <p:nvSpPr>
          <p:cNvPr id="36" name="TextBox 35"/>
          <p:cNvSpPr txBox="1"/>
          <p:nvPr/>
        </p:nvSpPr>
        <p:spPr>
          <a:xfrm>
            <a:off x="8430766" y="3374136"/>
            <a:ext cx="3474719" cy="914400"/>
          </a:xfrm>
          <a:prstGeom prst="rect">
            <a:avLst/>
          </a:prstGeom>
          <a:noFill/>
        </p:spPr>
        <p:txBody>
          <a:bodyPr wrap="square">
            <a:spAutoFit/>
          </a:bodyPr>
          <a:lstStyle/>
          <a:p>
            <a:pPr algn="l"/>
            <a:r>
              <a:rPr sz="1000" b="0" i="0">
                <a:solidFill>
                  <a:srgbClr val="9C9488"/>
                </a:solidFill>
              </a:rPr>
              <a:t>INFEASIBLE solver result = scope problem, never user failure. Jarvis recalibrates gracefully. Designed for ADHD brains and overwhelmed students alike.</a:t>
            </a:r>
          </a:p>
        </p:txBody>
      </p:sp>
      <p:sp>
        <p:nvSpPr>
          <p:cNvPr id="37" name="TextBox 36"/>
          <p:cNvSpPr txBox="1"/>
          <p:nvPr/>
        </p:nvSpPr>
        <p:spPr>
          <a:xfrm>
            <a:off x="548640" y="4663440"/>
            <a:ext cx="10515600" cy="320040"/>
          </a:xfrm>
          <a:prstGeom prst="rect">
            <a:avLst/>
          </a:prstGeom>
          <a:noFill/>
        </p:spPr>
        <p:txBody>
          <a:bodyPr wrap="square">
            <a:spAutoFit/>
          </a:bodyPr>
          <a:lstStyle/>
          <a:p>
            <a:pPr algn="l"/>
            <a:r>
              <a:rPr sz="1200" b="1" i="0">
                <a:solidFill>
                  <a:srgbClr val="D4775A"/>
                </a:solidFill>
              </a:rPr>
              <a:t>Moat: PEARL grows with every user interaction. The dataset is proprietary. The longer users stay, the harder it is to leave.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E09D5C"/>
                </a:solidFill>
              </a:rPr>
              <a:t>05 / TARGET AUDIENCE + WHY NOW</a:t>
            </a:r>
          </a:p>
        </p:txBody>
      </p:sp>
      <p:sp>
        <p:nvSpPr>
          <p:cNvPr id="12" name="TextBox 11"/>
          <p:cNvSpPr txBox="1"/>
          <p:nvPr/>
        </p:nvSpPr>
        <p:spPr>
          <a:xfrm>
            <a:off x="548640" y="594360"/>
            <a:ext cx="9144000" cy="502920"/>
          </a:xfrm>
          <a:prstGeom prst="rect">
            <a:avLst/>
          </a:prstGeom>
          <a:noFill/>
        </p:spPr>
        <p:txBody>
          <a:bodyPr wrap="square">
            <a:spAutoFit/>
          </a:bodyPr>
          <a:lstStyle/>
          <a:p>
            <a:pPr algn="l"/>
            <a:r>
              <a:rPr sz="2800" b="1" i="0">
                <a:solidFill>
                  <a:srgbClr val="FAF8F4"/>
                </a:solidFill>
              </a:rPr>
              <a:t>First 100: overloaded engineering students.</a:t>
            </a:r>
          </a:p>
        </p:txBody>
      </p:sp>
      <p:sp>
        <p:nvSpPr>
          <p:cNvPr id="13" name="Rectangle 12"/>
          <p:cNvSpPr/>
          <p:nvPr/>
        </p:nvSpPr>
        <p:spPr>
          <a:xfrm>
            <a:off x="45720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1261872"/>
            <a:ext cx="5486400"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1371600"/>
            <a:ext cx="4572000" cy="228600"/>
          </a:xfrm>
          <a:prstGeom prst="rect">
            <a:avLst/>
          </a:prstGeom>
          <a:noFill/>
        </p:spPr>
        <p:txBody>
          <a:bodyPr wrap="square">
            <a:spAutoFit/>
          </a:bodyPr>
          <a:lstStyle/>
          <a:p>
            <a:pPr algn="l"/>
            <a:r>
              <a:rPr sz="800" b="1" i="0">
                <a:solidFill>
                  <a:srgbClr val="E09D5C"/>
                </a:solidFill>
              </a:rPr>
              <a:t>WHO</a:t>
            </a:r>
          </a:p>
        </p:txBody>
      </p:sp>
      <p:sp>
        <p:nvSpPr>
          <p:cNvPr id="16" name="TextBox 15"/>
          <p:cNvSpPr txBox="1"/>
          <p:nvPr/>
        </p:nvSpPr>
        <p:spPr>
          <a:xfrm>
            <a:off x="640080" y="1627632"/>
            <a:ext cx="5120640" cy="457200"/>
          </a:xfrm>
          <a:prstGeom prst="rect">
            <a:avLst/>
          </a:prstGeom>
          <a:noFill/>
        </p:spPr>
        <p:txBody>
          <a:bodyPr wrap="square">
            <a:spAutoFit/>
          </a:bodyPr>
          <a:lstStyle/>
          <a:p>
            <a:pPr algn="l"/>
            <a:r>
              <a:rPr sz="1200" b="0" i="0">
                <a:solidFill>
                  <a:srgbClr val="FAF8F4"/>
                </a:solidFill>
              </a:rPr>
              <a:t>Engineering &amp; pre-professional students juggling
exams, projects, internships — simultaneously.</a:t>
            </a:r>
          </a:p>
        </p:txBody>
      </p:sp>
      <p:sp>
        <p:nvSpPr>
          <p:cNvPr id="17" name="Rectangle 16"/>
          <p:cNvSpPr/>
          <p:nvPr/>
        </p:nvSpPr>
        <p:spPr>
          <a:xfrm>
            <a:off x="640080" y="2267712"/>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176272"/>
            <a:ext cx="10332720" cy="347472"/>
          </a:xfrm>
          <a:prstGeom prst="rect">
            <a:avLst/>
          </a:prstGeom>
          <a:noFill/>
        </p:spPr>
        <p:txBody>
          <a:bodyPr wrap="square">
            <a:spAutoFit/>
          </a:bodyPr>
          <a:lstStyle/>
          <a:p>
            <a:pPr algn="l"/>
            <a:r>
              <a:rPr sz="1100" b="0" i="0">
                <a:solidFill>
                  <a:srgbClr val="FAF8F4"/>
                </a:solidFill>
              </a:rPr>
              <a:t>High cognitive load with multiple competing goals daily</a:t>
            </a:r>
          </a:p>
        </p:txBody>
      </p:sp>
      <p:sp>
        <p:nvSpPr>
          <p:cNvPr id="19" name="Rectangle 18"/>
          <p:cNvSpPr/>
          <p:nvPr/>
        </p:nvSpPr>
        <p:spPr>
          <a:xfrm>
            <a:off x="640080" y="2688336"/>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2596896"/>
            <a:ext cx="10332720" cy="347472"/>
          </a:xfrm>
          <a:prstGeom prst="rect">
            <a:avLst/>
          </a:prstGeom>
          <a:noFill/>
        </p:spPr>
        <p:txBody>
          <a:bodyPr wrap="square">
            <a:spAutoFit/>
          </a:bodyPr>
          <a:lstStyle/>
          <a:p>
            <a:pPr algn="l"/>
            <a:r>
              <a:rPr sz="1100" b="0" i="0">
                <a:solidFill>
                  <a:srgbClr val="FAF8F4"/>
                </a:solidFill>
              </a:rPr>
              <a:t>Tech-comfortable — tolerates API-first early product</a:t>
            </a:r>
          </a:p>
        </p:txBody>
      </p:sp>
      <p:sp>
        <p:nvSpPr>
          <p:cNvPr id="21" name="Rectangle 20"/>
          <p:cNvSpPr/>
          <p:nvPr/>
        </p:nvSpPr>
        <p:spPr>
          <a:xfrm>
            <a:off x="640080" y="3108960"/>
            <a:ext cx="82296" cy="82296"/>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017520"/>
            <a:ext cx="10332720" cy="347472"/>
          </a:xfrm>
          <a:prstGeom prst="rect">
            <a:avLst/>
          </a:prstGeom>
          <a:noFill/>
        </p:spPr>
        <p:txBody>
          <a:bodyPr wrap="square">
            <a:spAutoFit/>
          </a:bodyPr>
          <a:lstStyle/>
          <a:p>
            <a:pPr algn="l"/>
            <a:r>
              <a:rPr sz="1100" b="0" i="0">
                <a:solidFill>
                  <a:srgbClr val="FAF8F4"/>
                </a:solidFill>
              </a:rPr>
              <a:t>Strong word-of-mouth: hostels, Discord, WhatsApp groups</a:t>
            </a:r>
          </a:p>
        </p:txBody>
      </p:sp>
      <p:sp>
        <p:nvSpPr>
          <p:cNvPr id="23" name="Rectangle 22"/>
          <p:cNvSpPr/>
          <p:nvPr/>
        </p:nvSpPr>
        <p:spPr>
          <a:xfrm>
            <a:off x="640080" y="3529584"/>
            <a:ext cx="82296" cy="82296"/>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3438144"/>
            <a:ext cx="10332720" cy="347472"/>
          </a:xfrm>
          <a:prstGeom prst="rect">
            <a:avLst/>
          </a:prstGeom>
          <a:noFill/>
        </p:spPr>
        <p:txBody>
          <a:bodyPr wrap="square">
            <a:spAutoFit/>
          </a:bodyPr>
          <a:lstStyle/>
          <a:p>
            <a:pPr algn="l"/>
            <a:r>
              <a:rPr sz="1100" b="0" i="0">
                <a:solidFill>
                  <a:srgbClr val="FAF8F4"/>
                </a:solidFill>
              </a:rPr>
              <a:t>Measurable outcomes: completion rate, stress, exam scores</a:t>
            </a:r>
          </a:p>
        </p:txBody>
      </p:sp>
      <p:sp>
        <p:nvSpPr>
          <p:cNvPr id="25" name="Rectangle 24"/>
          <p:cNvSpPr/>
          <p:nvPr/>
        </p:nvSpPr>
        <p:spPr>
          <a:xfrm>
            <a:off x="640080" y="3950208"/>
            <a:ext cx="82296" cy="82296"/>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 y="3858768"/>
            <a:ext cx="10332720" cy="347472"/>
          </a:xfrm>
          <a:prstGeom prst="rect">
            <a:avLst/>
          </a:prstGeom>
          <a:noFill/>
        </p:spPr>
        <p:txBody>
          <a:bodyPr wrap="square">
            <a:spAutoFit/>
          </a:bodyPr>
          <a:lstStyle/>
          <a:p>
            <a:pPr algn="l"/>
            <a:r>
              <a:rPr sz="1100" b="0" i="0">
                <a:solidFill>
                  <a:srgbClr val="FAF8F4"/>
                </a:solidFill>
              </a:rPr>
              <a:t>Includes students with ADHD — Jarvis externalises the planning
brain, reducing executive function burden significantly</a:t>
            </a:r>
          </a:p>
        </p:txBody>
      </p:sp>
      <p:sp>
        <p:nvSpPr>
          <p:cNvPr id="27" name="Rectangle 26"/>
          <p:cNvSpPr/>
          <p:nvPr/>
        </p:nvSpPr>
        <p:spPr>
          <a:xfrm>
            <a:off x="6217920" y="1261872"/>
            <a:ext cx="5486400" cy="32918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0" y="1371600"/>
            <a:ext cx="4572000" cy="228600"/>
          </a:xfrm>
          <a:prstGeom prst="rect">
            <a:avLst/>
          </a:prstGeom>
          <a:noFill/>
        </p:spPr>
        <p:txBody>
          <a:bodyPr wrap="square">
            <a:spAutoFit/>
          </a:bodyPr>
          <a:lstStyle/>
          <a:p>
            <a:pPr algn="l"/>
            <a:r>
              <a:rPr sz="800" b="1" i="0">
                <a:solidFill>
                  <a:srgbClr val="D4775A"/>
                </a:solidFill>
              </a:rPr>
              <a:t>WHY NOW</a:t>
            </a:r>
          </a:p>
        </p:txBody>
      </p:sp>
      <p:sp>
        <p:nvSpPr>
          <p:cNvPr id="29" name="TextBox 28"/>
          <p:cNvSpPr txBox="1"/>
          <p:nvPr/>
        </p:nvSpPr>
        <p:spPr>
          <a:xfrm>
            <a:off x="6400800" y="1691640"/>
            <a:ext cx="5029200" cy="256032"/>
          </a:xfrm>
          <a:prstGeom prst="rect">
            <a:avLst/>
          </a:prstGeom>
          <a:noFill/>
        </p:spPr>
        <p:txBody>
          <a:bodyPr wrap="square">
            <a:spAutoFit/>
          </a:bodyPr>
          <a:lstStyle/>
          <a:p>
            <a:pPr algn="l"/>
            <a:r>
              <a:rPr sz="1200" b="1" i="0">
                <a:solidFill>
                  <a:srgbClr val="D4775A"/>
                </a:solidFill>
              </a:rPr>
              <a:t>Local AI is finally real</a:t>
            </a:r>
          </a:p>
        </p:txBody>
      </p:sp>
      <p:sp>
        <p:nvSpPr>
          <p:cNvPr id="30" name="TextBox 29"/>
          <p:cNvSpPr txBox="1"/>
          <p:nvPr/>
        </p:nvSpPr>
        <p:spPr>
          <a:xfrm>
            <a:off x="6400800" y="1965960"/>
            <a:ext cx="5029200" cy="594360"/>
          </a:xfrm>
          <a:prstGeom prst="rect">
            <a:avLst/>
          </a:prstGeom>
          <a:noFill/>
        </p:spPr>
        <p:txBody>
          <a:bodyPr wrap="square">
            <a:spAutoFit/>
          </a:bodyPr>
          <a:lstStyle/>
          <a:p>
            <a:pPr algn="l"/>
            <a:r>
              <a:rPr sz="1100" b="0" i="0">
                <a:solidFill>
                  <a:srgbClr val="9C9488"/>
                </a:solidFill>
              </a:rPr>
              <a:t>On-device LLMs now run at production quality. Local-first AI wasn't viable 18 months ago.</a:t>
            </a:r>
          </a:p>
        </p:txBody>
      </p:sp>
      <p:sp>
        <p:nvSpPr>
          <p:cNvPr id="31" name="TextBox 30"/>
          <p:cNvSpPr txBox="1"/>
          <p:nvPr/>
        </p:nvSpPr>
        <p:spPr>
          <a:xfrm>
            <a:off x="6400800" y="2697480"/>
            <a:ext cx="5029200" cy="256032"/>
          </a:xfrm>
          <a:prstGeom prst="rect">
            <a:avLst/>
          </a:prstGeom>
          <a:noFill/>
        </p:spPr>
        <p:txBody>
          <a:bodyPr wrap="square">
            <a:spAutoFit/>
          </a:bodyPr>
          <a:lstStyle/>
          <a:p>
            <a:pPr algn="l"/>
            <a:r>
              <a:rPr sz="1200" b="1" i="0">
                <a:solidFill>
                  <a:srgbClr val="E09D5C"/>
                </a:solidFill>
              </a:rPr>
              <a:t>LLM + solver = trustworthy</a:t>
            </a:r>
          </a:p>
        </p:txBody>
      </p:sp>
      <p:sp>
        <p:nvSpPr>
          <p:cNvPr id="32" name="TextBox 31"/>
          <p:cNvSpPr txBox="1"/>
          <p:nvPr/>
        </p:nvSpPr>
        <p:spPr>
          <a:xfrm>
            <a:off x="6400800" y="2971800"/>
            <a:ext cx="5029200" cy="594360"/>
          </a:xfrm>
          <a:prstGeom prst="rect">
            <a:avLst/>
          </a:prstGeom>
          <a:noFill/>
        </p:spPr>
        <p:txBody>
          <a:bodyPr wrap="square">
            <a:spAutoFit/>
          </a:bodyPr>
          <a:lstStyle/>
          <a:p>
            <a:pPr algn="l"/>
            <a:r>
              <a:rPr sz="1100" b="0" i="0">
                <a:solidFill>
                  <a:srgbClr val="9C9488"/>
                </a:solidFill>
              </a:rPr>
              <a:t>Combining constraint solvers with language models produces plans users can trust. The stack just matured.</a:t>
            </a:r>
          </a:p>
        </p:txBody>
      </p:sp>
      <p:sp>
        <p:nvSpPr>
          <p:cNvPr id="33" name="TextBox 32"/>
          <p:cNvSpPr txBox="1"/>
          <p:nvPr/>
        </p:nvSpPr>
        <p:spPr>
          <a:xfrm>
            <a:off x="6400800" y="3703320"/>
            <a:ext cx="5029200" cy="256032"/>
          </a:xfrm>
          <a:prstGeom prst="rect">
            <a:avLst/>
          </a:prstGeom>
          <a:noFill/>
        </p:spPr>
        <p:txBody>
          <a:bodyPr wrap="square">
            <a:spAutoFit/>
          </a:bodyPr>
          <a:lstStyle/>
          <a:p>
            <a:pPr algn="l"/>
            <a:r>
              <a:rPr sz="1200" b="1" i="0">
                <a:solidFill>
                  <a:srgbClr val="6B7FB5"/>
                </a:solidFill>
              </a:rPr>
              <a:t>Gen Z burnout is peaking</a:t>
            </a:r>
          </a:p>
        </p:txBody>
      </p:sp>
      <p:sp>
        <p:nvSpPr>
          <p:cNvPr id="34" name="TextBox 33"/>
          <p:cNvSpPr txBox="1"/>
          <p:nvPr/>
        </p:nvSpPr>
        <p:spPr>
          <a:xfrm>
            <a:off x="6400800" y="3977640"/>
            <a:ext cx="5029200" cy="594360"/>
          </a:xfrm>
          <a:prstGeom prst="rect">
            <a:avLst/>
          </a:prstGeom>
          <a:noFill/>
        </p:spPr>
        <p:txBody>
          <a:bodyPr wrap="square">
            <a:spAutoFit/>
          </a:bodyPr>
          <a:lstStyle/>
          <a:p>
            <a:pPr algn="l"/>
            <a:r>
              <a:rPr sz="1100" b="0" i="0">
                <a:solidFill>
                  <a:srgbClr val="9C9488"/>
                </a:solidFill>
              </a:rPr>
              <a:t>Post-pandemic student burnout at record highs. Demand for low-friction intelligent tools has never been higher.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D4775A"/>
                </a:solidFill>
              </a:rPr>
              <a:t>06 / VISION</a:t>
            </a:r>
          </a:p>
        </p:txBody>
      </p:sp>
      <p:sp>
        <p:nvSpPr>
          <p:cNvPr id="12" name="TextBox 11"/>
          <p:cNvSpPr txBox="1"/>
          <p:nvPr/>
        </p:nvSpPr>
        <p:spPr>
          <a:xfrm>
            <a:off x="548640" y="594360"/>
            <a:ext cx="10058400" cy="548640"/>
          </a:xfrm>
          <a:prstGeom prst="rect">
            <a:avLst/>
          </a:prstGeom>
          <a:noFill/>
        </p:spPr>
        <p:txBody>
          <a:bodyPr wrap="square">
            <a:spAutoFit/>
          </a:bodyPr>
          <a:lstStyle/>
          <a:p>
            <a:pPr algn="l"/>
            <a:r>
              <a:rPr sz="3000" b="1" i="0">
                <a:solidFill>
                  <a:srgbClr val="FAF8F4"/>
                </a:solidFill>
              </a:rPr>
              <a:t>The operating system for human potential.</a:t>
            </a:r>
          </a:p>
        </p:txBody>
      </p:sp>
      <p:sp>
        <p:nvSpPr>
          <p:cNvPr id="13" name="TextBox 12"/>
          <p:cNvSpPr txBox="1"/>
          <p:nvPr/>
        </p:nvSpPr>
        <p:spPr>
          <a:xfrm>
            <a:off x="548640" y="1188720"/>
            <a:ext cx="10515600" cy="320040"/>
          </a:xfrm>
          <a:prstGeom prst="rect">
            <a:avLst/>
          </a:prstGeom>
          <a:noFill/>
        </p:spPr>
        <p:txBody>
          <a:bodyPr wrap="square">
            <a:spAutoFit/>
          </a:bodyPr>
          <a:lstStyle/>
          <a:p>
            <a:pPr algn="l"/>
            <a:r>
              <a:rPr sz="1300" b="0" i="0">
                <a:solidFill>
                  <a:srgbClr val="9C9488"/>
                </a:solidFill>
              </a:rPr>
              <a:t>If successful, Jarvis becomes the layer between what you want to achieve and how you spend your time.</a:t>
            </a:r>
          </a:p>
        </p:txBody>
      </p:sp>
      <p:sp>
        <p:nvSpPr>
          <p:cNvPr id="14" name="Rectangle 13"/>
          <p:cNvSpPr/>
          <p:nvPr/>
        </p:nvSpPr>
        <p:spPr>
          <a:xfrm>
            <a:off x="457200"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1691640"/>
            <a:ext cx="3675887" cy="4572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1691640"/>
            <a:ext cx="54864" cy="2377440"/>
          </a:xfrm>
          <a:prstGeom prst="rect">
            <a:avLst/>
          </a:prstGeom>
          <a:solidFill>
            <a:srgbClr val="D477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1810512"/>
            <a:ext cx="3383280" cy="256032"/>
          </a:xfrm>
          <a:prstGeom prst="rect">
            <a:avLst/>
          </a:prstGeom>
          <a:noFill/>
        </p:spPr>
        <p:txBody>
          <a:bodyPr wrap="square">
            <a:spAutoFit/>
          </a:bodyPr>
          <a:lstStyle/>
          <a:p>
            <a:pPr algn="l"/>
            <a:r>
              <a:rPr sz="1000" b="1" i="0">
                <a:solidFill>
                  <a:srgbClr val="D4775A"/>
                </a:solidFill>
              </a:rPr>
              <a:t>Phase 1  ·  2026</a:t>
            </a:r>
          </a:p>
        </p:txBody>
      </p:sp>
      <p:sp>
        <p:nvSpPr>
          <p:cNvPr id="18" name="TextBox 17"/>
          <p:cNvSpPr txBox="1"/>
          <p:nvPr/>
        </p:nvSpPr>
        <p:spPr>
          <a:xfrm>
            <a:off x="640080" y="2103120"/>
            <a:ext cx="3383280" cy="292608"/>
          </a:xfrm>
          <a:prstGeom prst="rect">
            <a:avLst/>
          </a:prstGeom>
          <a:noFill/>
        </p:spPr>
        <p:txBody>
          <a:bodyPr wrap="square">
            <a:spAutoFit/>
          </a:bodyPr>
          <a:lstStyle/>
          <a:p>
            <a:pPr algn="l"/>
            <a:r>
              <a:rPr sz="1400" b="1" i="0">
                <a:solidFill>
                  <a:srgbClr val="FAF8F4"/>
                </a:solidFill>
              </a:rPr>
              <a:t>Student Productivity</a:t>
            </a:r>
          </a:p>
        </p:txBody>
      </p:sp>
      <p:sp>
        <p:nvSpPr>
          <p:cNvPr id="19" name="TextBox 18"/>
          <p:cNvSpPr txBox="1"/>
          <p:nvPr/>
        </p:nvSpPr>
        <p:spPr>
          <a:xfrm>
            <a:off x="640080" y="2450592"/>
            <a:ext cx="3383280" cy="1463040"/>
          </a:xfrm>
          <a:prstGeom prst="rect">
            <a:avLst/>
          </a:prstGeom>
          <a:noFill/>
        </p:spPr>
        <p:txBody>
          <a:bodyPr wrap="square">
            <a:spAutoFit/>
          </a:bodyPr>
          <a:lstStyle/>
          <a:p>
            <a:pPr algn="l"/>
            <a:r>
              <a:rPr sz="1100" b="0" i="0">
                <a:solidFill>
                  <a:srgbClr val="9C9488"/>
                </a:solidFill>
              </a:rPr>
              <a:t>First 100 → 10K users
Engineering students, India + SEA
Freemium, local-first, word-of-mouth</a:t>
            </a:r>
          </a:p>
        </p:txBody>
      </p:sp>
      <p:sp>
        <p:nvSpPr>
          <p:cNvPr id="20" name="Rectangle 19"/>
          <p:cNvSpPr/>
          <p:nvPr/>
        </p:nvSpPr>
        <p:spPr>
          <a:xfrm>
            <a:off x="4315968"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315968" y="1691640"/>
            <a:ext cx="3675887" cy="4572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1691640"/>
            <a:ext cx="54864" cy="2377440"/>
          </a:xfrm>
          <a:prstGeom prst="rect">
            <a:avLst/>
          </a:prstGeom>
          <a:solidFill>
            <a:srgbClr val="E09D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1810512"/>
            <a:ext cx="3383280" cy="256032"/>
          </a:xfrm>
          <a:prstGeom prst="rect">
            <a:avLst/>
          </a:prstGeom>
          <a:noFill/>
        </p:spPr>
        <p:txBody>
          <a:bodyPr wrap="square">
            <a:spAutoFit/>
          </a:bodyPr>
          <a:lstStyle/>
          <a:p>
            <a:pPr algn="l"/>
            <a:r>
              <a:rPr sz="1000" b="1" i="0">
                <a:solidFill>
                  <a:srgbClr val="E09D5C"/>
                </a:solidFill>
              </a:rPr>
              <a:t>Phase 2  ·  2027</a:t>
            </a:r>
          </a:p>
        </p:txBody>
      </p:sp>
      <p:sp>
        <p:nvSpPr>
          <p:cNvPr id="24" name="TextBox 23"/>
          <p:cNvSpPr txBox="1"/>
          <p:nvPr/>
        </p:nvSpPr>
        <p:spPr>
          <a:xfrm>
            <a:off x="4498848" y="2103120"/>
            <a:ext cx="3383280" cy="292608"/>
          </a:xfrm>
          <a:prstGeom prst="rect">
            <a:avLst/>
          </a:prstGeom>
          <a:noFill/>
        </p:spPr>
        <p:txBody>
          <a:bodyPr wrap="square">
            <a:spAutoFit/>
          </a:bodyPr>
          <a:lstStyle/>
          <a:p>
            <a:pPr algn="l"/>
            <a:r>
              <a:rPr sz="1400" b="1" i="0">
                <a:solidFill>
                  <a:srgbClr val="FAF8F4"/>
                </a:solidFill>
              </a:rPr>
              <a:t>Professional Expansion</a:t>
            </a:r>
          </a:p>
        </p:txBody>
      </p:sp>
      <p:sp>
        <p:nvSpPr>
          <p:cNvPr id="25" name="TextBox 24"/>
          <p:cNvSpPr txBox="1"/>
          <p:nvPr/>
        </p:nvSpPr>
        <p:spPr>
          <a:xfrm>
            <a:off x="4498848" y="2450592"/>
            <a:ext cx="3383280" cy="1463040"/>
          </a:xfrm>
          <a:prstGeom prst="rect">
            <a:avLst/>
          </a:prstGeom>
          <a:noFill/>
        </p:spPr>
        <p:txBody>
          <a:bodyPr wrap="square">
            <a:spAutoFit/>
          </a:bodyPr>
          <a:lstStyle/>
          <a:p>
            <a:pPr algn="l"/>
            <a:r>
              <a:rPr sz="1100" b="0" i="0">
                <a:solidFill>
                  <a:srgbClr val="9C9488"/>
                </a:solidFill>
              </a:rPr>
              <a:t>Knowledge workers, freelancers
Team scheduling &amp; project layer
Premium tier, API access</a:t>
            </a:r>
          </a:p>
        </p:txBody>
      </p:sp>
      <p:sp>
        <p:nvSpPr>
          <p:cNvPr id="26" name="Rectangle 25"/>
          <p:cNvSpPr/>
          <p:nvPr/>
        </p:nvSpPr>
        <p:spPr>
          <a:xfrm>
            <a:off x="8174736" y="1691640"/>
            <a:ext cx="3675887" cy="237744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1691640"/>
            <a:ext cx="3675887" cy="4572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74736" y="1691640"/>
            <a:ext cx="54864" cy="237744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7616" y="1810512"/>
            <a:ext cx="3383280" cy="256032"/>
          </a:xfrm>
          <a:prstGeom prst="rect">
            <a:avLst/>
          </a:prstGeom>
          <a:noFill/>
        </p:spPr>
        <p:txBody>
          <a:bodyPr wrap="square">
            <a:spAutoFit/>
          </a:bodyPr>
          <a:lstStyle/>
          <a:p>
            <a:pPr algn="l"/>
            <a:r>
              <a:rPr sz="1000" b="1" i="0">
                <a:solidFill>
                  <a:srgbClr val="6B7FB5"/>
                </a:solidFill>
              </a:rPr>
              <a:t>Phase 3  ·  2028+</a:t>
            </a:r>
          </a:p>
        </p:txBody>
      </p:sp>
      <p:sp>
        <p:nvSpPr>
          <p:cNvPr id="30" name="TextBox 29"/>
          <p:cNvSpPr txBox="1"/>
          <p:nvPr/>
        </p:nvSpPr>
        <p:spPr>
          <a:xfrm>
            <a:off x="8357616" y="2103120"/>
            <a:ext cx="3383280" cy="292608"/>
          </a:xfrm>
          <a:prstGeom prst="rect">
            <a:avLst/>
          </a:prstGeom>
          <a:noFill/>
        </p:spPr>
        <p:txBody>
          <a:bodyPr wrap="square">
            <a:spAutoFit/>
          </a:bodyPr>
          <a:lstStyle/>
          <a:p>
            <a:pPr algn="l"/>
            <a:r>
              <a:rPr sz="1400" b="1" i="0">
                <a:solidFill>
                  <a:srgbClr val="FAF8F4"/>
                </a:solidFill>
              </a:rPr>
              <a:t>Enterprise Platform</a:t>
            </a:r>
          </a:p>
        </p:txBody>
      </p:sp>
      <p:sp>
        <p:nvSpPr>
          <p:cNvPr id="31" name="TextBox 30"/>
          <p:cNvSpPr txBox="1"/>
          <p:nvPr/>
        </p:nvSpPr>
        <p:spPr>
          <a:xfrm>
            <a:off x="8357616" y="2450592"/>
            <a:ext cx="3383280" cy="1463040"/>
          </a:xfrm>
          <a:prstGeom prst="rect">
            <a:avLst/>
          </a:prstGeom>
          <a:noFill/>
        </p:spPr>
        <p:txBody>
          <a:bodyPr wrap="square">
            <a:spAutoFit/>
          </a:bodyPr>
          <a:lstStyle/>
          <a:p>
            <a:pPr algn="l"/>
            <a:r>
              <a:rPr sz="1100" b="0" i="0">
                <a:solidFill>
                  <a:srgbClr val="9C9488"/>
                </a:solidFill>
              </a:rPr>
              <a:t>Org-wide cognitive load management
Enterprise contracts + API licensing
~$90/mo per 1K daily active users</a:t>
            </a:r>
          </a:p>
        </p:txBody>
      </p:sp>
      <p:sp>
        <p:nvSpPr>
          <p:cNvPr id="32" name="Rectangle 31"/>
          <p:cNvSpPr/>
          <p:nvPr/>
        </p:nvSpPr>
        <p:spPr>
          <a:xfrm>
            <a:off x="457200" y="4251960"/>
            <a:ext cx="11274552" cy="868680"/>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31520" y="4370832"/>
            <a:ext cx="502920" cy="256032"/>
          </a:xfrm>
          <a:prstGeom prst="rect">
            <a:avLst/>
          </a:prstGeom>
          <a:noFill/>
        </p:spPr>
        <p:txBody>
          <a:bodyPr wrap="square">
            <a:spAutoFit/>
          </a:bodyPr>
          <a:lstStyle/>
          <a:p>
            <a:pPr algn="l"/>
            <a:r>
              <a:rPr sz="900" b="1" i="0">
                <a:solidFill>
                  <a:srgbClr val="9C9488"/>
                </a:solidFill>
              </a:rPr>
              <a:t>TAM</a:t>
            </a:r>
          </a:p>
        </p:txBody>
      </p:sp>
      <p:sp>
        <p:nvSpPr>
          <p:cNvPr id="34" name="TextBox 33"/>
          <p:cNvSpPr txBox="1"/>
          <p:nvPr/>
        </p:nvSpPr>
        <p:spPr>
          <a:xfrm>
            <a:off x="1280160" y="4370832"/>
            <a:ext cx="3200400" cy="256032"/>
          </a:xfrm>
          <a:prstGeom prst="rect">
            <a:avLst/>
          </a:prstGeom>
          <a:noFill/>
        </p:spPr>
        <p:txBody>
          <a:bodyPr wrap="square">
            <a:spAutoFit/>
          </a:bodyPr>
          <a:lstStyle/>
          <a:p>
            <a:pPr algn="l"/>
            <a:r>
              <a:rPr sz="1100" b="0" i="0">
                <a:solidFill>
                  <a:srgbClr val="FAF8F4"/>
                </a:solidFill>
              </a:rPr>
              <a:t>$14.3B  Global productivity software market</a:t>
            </a:r>
          </a:p>
        </p:txBody>
      </p:sp>
      <p:sp>
        <p:nvSpPr>
          <p:cNvPr id="35" name="TextBox 34"/>
          <p:cNvSpPr txBox="1"/>
          <p:nvPr/>
        </p:nvSpPr>
        <p:spPr>
          <a:xfrm>
            <a:off x="4572000" y="4370832"/>
            <a:ext cx="502920" cy="256032"/>
          </a:xfrm>
          <a:prstGeom prst="rect">
            <a:avLst/>
          </a:prstGeom>
          <a:noFill/>
        </p:spPr>
        <p:txBody>
          <a:bodyPr wrap="square">
            <a:spAutoFit/>
          </a:bodyPr>
          <a:lstStyle/>
          <a:p>
            <a:pPr algn="l"/>
            <a:r>
              <a:rPr sz="900" b="1" i="0">
                <a:solidFill>
                  <a:srgbClr val="E09D5C"/>
                </a:solidFill>
              </a:rPr>
              <a:t>SAM</a:t>
            </a:r>
          </a:p>
        </p:txBody>
      </p:sp>
      <p:sp>
        <p:nvSpPr>
          <p:cNvPr id="36" name="TextBox 35"/>
          <p:cNvSpPr txBox="1"/>
          <p:nvPr/>
        </p:nvSpPr>
        <p:spPr>
          <a:xfrm>
            <a:off x="5120640" y="4370832"/>
            <a:ext cx="3200400" cy="256032"/>
          </a:xfrm>
          <a:prstGeom prst="rect">
            <a:avLst/>
          </a:prstGeom>
          <a:noFill/>
        </p:spPr>
        <p:txBody>
          <a:bodyPr wrap="square">
            <a:spAutoFit/>
          </a:bodyPr>
          <a:lstStyle/>
          <a:p>
            <a:pPr algn="l"/>
            <a:r>
              <a:rPr sz="1100" b="0" i="0">
                <a:solidFill>
                  <a:srgbClr val="FAF8F4"/>
                </a:solidFill>
              </a:rPr>
              <a:t>$2.1B   AI-powered personal productivity</a:t>
            </a:r>
          </a:p>
        </p:txBody>
      </p:sp>
      <p:sp>
        <p:nvSpPr>
          <p:cNvPr id="37" name="TextBox 36"/>
          <p:cNvSpPr txBox="1"/>
          <p:nvPr/>
        </p:nvSpPr>
        <p:spPr>
          <a:xfrm>
            <a:off x="8412480" y="4370832"/>
            <a:ext cx="502920" cy="256032"/>
          </a:xfrm>
          <a:prstGeom prst="rect">
            <a:avLst/>
          </a:prstGeom>
          <a:noFill/>
        </p:spPr>
        <p:txBody>
          <a:bodyPr wrap="square">
            <a:spAutoFit/>
          </a:bodyPr>
          <a:lstStyle/>
          <a:p>
            <a:pPr algn="l"/>
            <a:r>
              <a:rPr sz="900" b="1" i="0">
                <a:solidFill>
                  <a:srgbClr val="D4775A"/>
                </a:solidFill>
              </a:rPr>
              <a:t>SOM</a:t>
            </a:r>
          </a:p>
        </p:txBody>
      </p:sp>
      <p:sp>
        <p:nvSpPr>
          <p:cNvPr id="38" name="TextBox 37"/>
          <p:cNvSpPr txBox="1"/>
          <p:nvPr/>
        </p:nvSpPr>
        <p:spPr>
          <a:xfrm>
            <a:off x="8961120" y="4370832"/>
            <a:ext cx="3200400" cy="256032"/>
          </a:xfrm>
          <a:prstGeom prst="rect">
            <a:avLst/>
          </a:prstGeom>
          <a:noFill/>
        </p:spPr>
        <p:txBody>
          <a:bodyPr wrap="square">
            <a:spAutoFit/>
          </a:bodyPr>
          <a:lstStyle/>
          <a:p>
            <a:pPr algn="l"/>
            <a:r>
              <a:rPr sz="1100" b="0" i="0">
                <a:solidFill>
                  <a:srgbClr val="FAF8F4"/>
                </a:solidFill>
              </a:rPr>
              <a:t>$140M  Student segment · India + SEA · 3 year</a:t>
            </a:r>
          </a:p>
        </p:txBody>
      </p:sp>
      <p:sp>
        <p:nvSpPr>
          <p:cNvPr id="39" name="TextBox 38"/>
          <p:cNvSpPr txBox="1"/>
          <p:nvPr/>
        </p:nvSpPr>
        <p:spPr>
          <a:xfrm>
            <a:off x="548640" y="5321808"/>
            <a:ext cx="10515600" cy="347472"/>
          </a:xfrm>
          <a:prstGeom prst="rect">
            <a:avLst/>
          </a:prstGeom>
          <a:noFill/>
        </p:spPr>
        <p:txBody>
          <a:bodyPr wrap="square">
            <a:spAutoFit/>
          </a:bodyPr>
          <a:lstStyle/>
          <a:p>
            <a:pPr algn="l"/>
            <a:r>
              <a:rPr sz="1200" b="1" i="0">
                <a:solidFill>
                  <a:srgbClr val="D4775A"/>
                </a:solidFill>
              </a:rPr>
              <a:t>Core moat: every interaction trains PEARL. The behavioral dataset is proprietary. Switching cost compounds with time — the longer you use Jarvis, the more it knows you.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1A17"/>
        </a:solidFill>
        <a:effectLst/>
      </p:bgPr>
    </p:bg>
    <p:spTree>
      <p:nvGrpSpPr>
        <p:cNvPr id="1" name=""/>
        <p:cNvGrpSpPr/>
        <p:nvPr/>
      </p:nvGrpSpPr>
      <p:grpSpPr/>
      <p:sp>
        <p:nvSpPr>
          <p:cNvPr id="2" name="Rectangle 1"/>
          <p:cNvSpPr/>
          <p:nvPr/>
        </p:nvSpPr>
        <p:spPr>
          <a:xfrm>
            <a:off x="137160"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50624" y="13716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2028932" y="137160"/>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37160"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137160"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850624" y="6697980"/>
            <a:ext cx="201168" cy="22860"/>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2028932" y="6519672"/>
            <a:ext cx="22860" cy="20116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6812280"/>
            <a:ext cx="10360152" cy="27432"/>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92608"/>
            <a:ext cx="7315200" cy="256032"/>
          </a:xfrm>
          <a:prstGeom prst="rect">
            <a:avLst/>
          </a:prstGeom>
          <a:noFill/>
        </p:spPr>
        <p:txBody>
          <a:bodyPr wrap="square">
            <a:spAutoFit/>
          </a:bodyPr>
          <a:lstStyle/>
          <a:p>
            <a:pPr algn="l"/>
            <a:r>
              <a:rPr sz="800" b="1" i="0">
                <a:solidFill>
                  <a:srgbClr val="6B7FB5"/>
                </a:solidFill>
              </a:rPr>
              <a:t>APPENDIX / INTERVIEW EVIDENCE</a:t>
            </a:r>
          </a:p>
        </p:txBody>
      </p:sp>
      <p:sp>
        <p:nvSpPr>
          <p:cNvPr id="12" name="TextBox 11"/>
          <p:cNvSpPr txBox="1"/>
          <p:nvPr/>
        </p:nvSpPr>
        <p:spPr>
          <a:xfrm>
            <a:off x="548640" y="594360"/>
            <a:ext cx="8229600" cy="457200"/>
          </a:xfrm>
          <a:prstGeom prst="rect">
            <a:avLst/>
          </a:prstGeom>
          <a:noFill/>
        </p:spPr>
        <p:txBody>
          <a:bodyPr wrap="square">
            <a:spAutoFit/>
          </a:bodyPr>
          <a:lstStyle/>
          <a:p>
            <a:pPr algn="l"/>
            <a:r>
              <a:rPr sz="2600" b="1" i="0">
                <a:solidFill>
                  <a:srgbClr val="FAF8F4"/>
                </a:solidFill>
              </a:rPr>
              <a:t>5 Interviews — Problem Validation</a:t>
            </a:r>
          </a:p>
        </p:txBody>
      </p:sp>
      <p:sp>
        <p:nvSpPr>
          <p:cNvPr id="13" name="TextBox 12"/>
          <p:cNvSpPr txBox="1"/>
          <p:nvPr/>
        </p:nvSpPr>
        <p:spPr>
          <a:xfrm>
            <a:off x="548640" y="1097280"/>
            <a:ext cx="10972800" cy="274320"/>
          </a:xfrm>
          <a:prstGeom prst="rect">
            <a:avLst/>
          </a:prstGeom>
          <a:noFill/>
        </p:spPr>
        <p:txBody>
          <a:bodyPr wrap="square">
            <a:spAutoFit/>
          </a:bodyPr>
          <a:lstStyle/>
          <a:p>
            <a:pPr algn="l"/>
            <a:r>
              <a:rPr sz="1100" b="0" i="1">
                <a:solidFill>
                  <a:srgbClr val="9C9488"/>
                </a:solidFill>
              </a:rPr>
              <a:t>Conducted March 2026  ·  Mix of engineering students + mentors  ·  Full transcripts attached as supplementary document.</a:t>
            </a:r>
          </a:p>
        </p:txBody>
      </p:sp>
      <p:sp>
        <p:nvSpPr>
          <p:cNvPr id="14" name="Rectangle 13"/>
          <p:cNvSpPr/>
          <p:nvPr/>
        </p:nvSpPr>
        <p:spPr>
          <a:xfrm>
            <a:off x="457200" y="1536192"/>
            <a:ext cx="36576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2064" y="1572768"/>
            <a:ext cx="365760" cy="228600"/>
          </a:xfrm>
          <a:prstGeom prst="rect">
            <a:avLst/>
          </a:prstGeom>
          <a:noFill/>
        </p:spPr>
        <p:txBody>
          <a:bodyPr wrap="square">
            <a:spAutoFit/>
          </a:bodyPr>
          <a:lstStyle/>
          <a:p>
            <a:pPr algn="l"/>
            <a:r>
              <a:rPr sz="900" b="1" i="0">
                <a:solidFill>
                  <a:srgbClr val="1C1A17"/>
                </a:solidFill>
              </a:rPr>
              <a:t>#</a:t>
            </a:r>
          </a:p>
        </p:txBody>
      </p:sp>
      <p:sp>
        <p:nvSpPr>
          <p:cNvPr id="16" name="Rectangle 15"/>
          <p:cNvSpPr/>
          <p:nvPr/>
        </p:nvSpPr>
        <p:spPr>
          <a:xfrm>
            <a:off x="868680" y="1536192"/>
            <a:ext cx="201168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3544" y="1572768"/>
            <a:ext cx="2011680" cy="228600"/>
          </a:xfrm>
          <a:prstGeom prst="rect">
            <a:avLst/>
          </a:prstGeom>
          <a:noFill/>
        </p:spPr>
        <p:txBody>
          <a:bodyPr wrap="square">
            <a:spAutoFit/>
          </a:bodyPr>
          <a:lstStyle/>
          <a:p>
            <a:pPr algn="l"/>
            <a:r>
              <a:rPr sz="900" b="1" i="0">
                <a:solidFill>
                  <a:srgbClr val="1C1A17"/>
                </a:solidFill>
              </a:rPr>
              <a:t>Profile</a:t>
            </a:r>
          </a:p>
        </p:txBody>
      </p:sp>
      <p:sp>
        <p:nvSpPr>
          <p:cNvPr id="18" name="Rectangle 17"/>
          <p:cNvSpPr/>
          <p:nvPr/>
        </p:nvSpPr>
        <p:spPr>
          <a:xfrm>
            <a:off x="2926080" y="1536192"/>
            <a:ext cx="54864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80944" y="1572768"/>
            <a:ext cx="5486400" cy="228600"/>
          </a:xfrm>
          <a:prstGeom prst="rect">
            <a:avLst/>
          </a:prstGeom>
          <a:noFill/>
        </p:spPr>
        <p:txBody>
          <a:bodyPr wrap="square">
            <a:spAutoFit/>
          </a:bodyPr>
          <a:lstStyle/>
          <a:p>
            <a:pPr algn="l"/>
            <a:r>
              <a:rPr sz="900" b="1" i="0">
                <a:solidFill>
                  <a:srgbClr val="1C1A17"/>
                </a:solidFill>
              </a:rPr>
              <a:t>Key Quote</a:t>
            </a:r>
          </a:p>
        </p:txBody>
      </p:sp>
      <p:sp>
        <p:nvSpPr>
          <p:cNvPr id="20" name="Rectangle 19"/>
          <p:cNvSpPr/>
          <p:nvPr/>
        </p:nvSpPr>
        <p:spPr>
          <a:xfrm>
            <a:off x="8503920" y="1536192"/>
            <a:ext cx="2286000" cy="292608"/>
          </a:xfrm>
          <a:prstGeom prst="rect">
            <a:avLst/>
          </a:prstGeom>
          <a:solidFill>
            <a:srgbClr val="6B7F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58784" y="1572768"/>
            <a:ext cx="2286000" cy="228600"/>
          </a:xfrm>
          <a:prstGeom prst="rect">
            <a:avLst/>
          </a:prstGeom>
          <a:noFill/>
        </p:spPr>
        <p:txBody>
          <a:bodyPr wrap="square">
            <a:spAutoFit/>
          </a:bodyPr>
          <a:lstStyle/>
          <a:p>
            <a:pPr algn="l"/>
            <a:r>
              <a:rPr sz="900" b="1" i="0">
                <a:solidFill>
                  <a:srgbClr val="1C1A17"/>
                </a:solidFill>
              </a:rPr>
              <a:t>Pain Signal</a:t>
            </a:r>
          </a:p>
        </p:txBody>
      </p:sp>
      <p:sp>
        <p:nvSpPr>
          <p:cNvPr id="22" name="Rectangle 21"/>
          <p:cNvSpPr/>
          <p:nvPr/>
        </p:nvSpPr>
        <p:spPr>
          <a:xfrm>
            <a:off x="457200" y="184708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1208" y="1938528"/>
            <a:ext cx="274320" cy="429768"/>
          </a:xfrm>
          <a:prstGeom prst="rect">
            <a:avLst/>
          </a:prstGeom>
          <a:noFill/>
        </p:spPr>
        <p:txBody>
          <a:bodyPr wrap="square">
            <a:spAutoFit/>
          </a:bodyPr>
          <a:lstStyle/>
          <a:p>
            <a:pPr algn="l"/>
            <a:r>
              <a:rPr sz="1000" b="0" i="0">
                <a:solidFill>
                  <a:srgbClr val="FAF8F4"/>
                </a:solidFill>
              </a:rPr>
              <a:t>1</a:t>
            </a:r>
          </a:p>
        </p:txBody>
      </p:sp>
      <p:sp>
        <p:nvSpPr>
          <p:cNvPr id="24" name="Rectangle 23"/>
          <p:cNvSpPr/>
          <p:nvPr/>
        </p:nvSpPr>
        <p:spPr>
          <a:xfrm>
            <a:off x="868680" y="184708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32688" y="1938528"/>
            <a:ext cx="1920240" cy="429768"/>
          </a:xfrm>
          <a:prstGeom prst="rect">
            <a:avLst/>
          </a:prstGeom>
          <a:noFill/>
        </p:spPr>
        <p:txBody>
          <a:bodyPr wrap="square">
            <a:spAutoFit/>
          </a:bodyPr>
          <a:lstStyle/>
          <a:p>
            <a:pPr algn="l"/>
            <a:r>
              <a:rPr sz="1000" b="0" i="0">
                <a:solidFill>
                  <a:srgbClr val="FAF8F4"/>
                </a:solidFill>
              </a:rPr>
              <a:t>Nikhilesh · 3rd yr · IIT Madras</a:t>
            </a:r>
          </a:p>
        </p:txBody>
      </p:sp>
      <p:sp>
        <p:nvSpPr>
          <p:cNvPr id="26" name="Rectangle 25"/>
          <p:cNvSpPr/>
          <p:nvPr/>
        </p:nvSpPr>
        <p:spPr>
          <a:xfrm>
            <a:off x="2926080" y="184708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990088" y="1938528"/>
            <a:ext cx="5394960" cy="429768"/>
          </a:xfrm>
          <a:prstGeom prst="rect">
            <a:avLst/>
          </a:prstGeom>
          <a:noFill/>
        </p:spPr>
        <p:txBody>
          <a:bodyPr wrap="square">
            <a:spAutoFit/>
          </a:bodyPr>
          <a:lstStyle/>
          <a:p>
            <a:pPr algn="l"/>
            <a:r>
              <a:rPr sz="1000" b="0" i="0">
                <a:solidFill>
                  <a:srgbClr val="FAF8F4"/>
                </a:solidFill>
              </a:rPr>
              <a:t>I have a to-do list, a calendar, and a Notion board. None of them talk to each other and none of them tell me what to actually do right now. I just context-switch all day and feel like I did nothing.</a:t>
            </a:r>
          </a:p>
        </p:txBody>
      </p:sp>
      <p:sp>
        <p:nvSpPr>
          <p:cNvPr id="28" name="Rectangle 27"/>
          <p:cNvSpPr/>
          <p:nvPr/>
        </p:nvSpPr>
        <p:spPr>
          <a:xfrm>
            <a:off x="8503920" y="184708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567928" y="1938528"/>
            <a:ext cx="2194560" cy="429768"/>
          </a:xfrm>
          <a:prstGeom prst="rect">
            <a:avLst/>
          </a:prstGeom>
          <a:noFill/>
        </p:spPr>
        <p:txBody>
          <a:bodyPr wrap="square">
            <a:spAutoFit/>
          </a:bodyPr>
          <a:lstStyle/>
          <a:p>
            <a:pPr algn="l"/>
            <a:r>
              <a:rPr sz="1000" b="0" i="0">
                <a:solidFill>
                  <a:srgbClr val="FAF8F4"/>
                </a:solidFill>
              </a:rPr>
              <a:t>Planning paralysis</a:t>
            </a:r>
          </a:p>
        </p:txBody>
      </p:sp>
      <p:sp>
        <p:nvSpPr>
          <p:cNvPr id="30" name="Rectangle 29"/>
          <p:cNvSpPr/>
          <p:nvPr/>
        </p:nvSpPr>
        <p:spPr>
          <a:xfrm>
            <a:off x="457200" y="235000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21208" y="2441448"/>
            <a:ext cx="274320" cy="429768"/>
          </a:xfrm>
          <a:prstGeom prst="rect">
            <a:avLst/>
          </a:prstGeom>
          <a:noFill/>
        </p:spPr>
        <p:txBody>
          <a:bodyPr wrap="square">
            <a:spAutoFit/>
          </a:bodyPr>
          <a:lstStyle/>
          <a:p>
            <a:pPr algn="l"/>
            <a:r>
              <a:rPr sz="1000" b="0" i="0">
                <a:solidFill>
                  <a:srgbClr val="FAF8F4"/>
                </a:solidFill>
              </a:rPr>
              <a:t>2</a:t>
            </a:r>
          </a:p>
        </p:txBody>
      </p:sp>
      <p:sp>
        <p:nvSpPr>
          <p:cNvPr id="32" name="Rectangle 31"/>
          <p:cNvSpPr/>
          <p:nvPr/>
        </p:nvSpPr>
        <p:spPr>
          <a:xfrm>
            <a:off x="868680" y="235000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32688" y="2441448"/>
            <a:ext cx="1920240" cy="429768"/>
          </a:xfrm>
          <a:prstGeom prst="rect">
            <a:avLst/>
          </a:prstGeom>
          <a:noFill/>
        </p:spPr>
        <p:txBody>
          <a:bodyPr wrap="square">
            <a:spAutoFit/>
          </a:bodyPr>
          <a:lstStyle/>
          <a:p>
            <a:pPr algn="l"/>
            <a:r>
              <a:rPr sz="1000" b="0" i="0">
                <a:solidFill>
                  <a:srgbClr val="FAF8F4"/>
                </a:solidFill>
              </a:rPr>
              <a:t>Tharun · 2nd yr · IIT Kharagpur</a:t>
            </a:r>
          </a:p>
        </p:txBody>
      </p:sp>
      <p:sp>
        <p:nvSpPr>
          <p:cNvPr id="34" name="Rectangle 33"/>
          <p:cNvSpPr/>
          <p:nvPr/>
        </p:nvSpPr>
        <p:spPr>
          <a:xfrm>
            <a:off x="2926080" y="235000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990088" y="2441448"/>
            <a:ext cx="5394960" cy="429768"/>
          </a:xfrm>
          <a:prstGeom prst="rect">
            <a:avLst/>
          </a:prstGeom>
          <a:noFill/>
        </p:spPr>
        <p:txBody>
          <a:bodyPr wrap="square">
            <a:spAutoFit/>
          </a:bodyPr>
          <a:lstStyle/>
          <a:p>
            <a:pPr algn="l"/>
            <a:r>
              <a:rPr sz="1000" b="0" i="0">
                <a:solidFill>
                  <a:srgbClr val="FAF8F4"/>
                </a:solidFill>
              </a:rPr>
              <a:t>Honestly I just stop opening my planner after I miss two things. The guilt of seeing undone tasks is worse than not having a plan at all. I end up starting over every week.</a:t>
            </a:r>
          </a:p>
        </p:txBody>
      </p:sp>
      <p:sp>
        <p:nvSpPr>
          <p:cNvPr id="36" name="Rectangle 35"/>
          <p:cNvSpPr/>
          <p:nvPr/>
        </p:nvSpPr>
        <p:spPr>
          <a:xfrm>
            <a:off x="8503920" y="235000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567928" y="2441448"/>
            <a:ext cx="2194560" cy="429768"/>
          </a:xfrm>
          <a:prstGeom prst="rect">
            <a:avLst/>
          </a:prstGeom>
          <a:noFill/>
        </p:spPr>
        <p:txBody>
          <a:bodyPr wrap="square">
            <a:spAutoFit/>
          </a:bodyPr>
          <a:lstStyle/>
          <a:p>
            <a:pPr algn="l"/>
            <a:r>
              <a:rPr sz="1000" b="0" i="0">
                <a:solidFill>
                  <a:srgbClr val="FAF8F4"/>
                </a:solidFill>
              </a:rPr>
              <a:t>Guilt / missed tasks</a:t>
            </a:r>
          </a:p>
        </p:txBody>
      </p:sp>
      <p:sp>
        <p:nvSpPr>
          <p:cNvPr id="38" name="Rectangle 37"/>
          <p:cNvSpPr/>
          <p:nvPr/>
        </p:nvSpPr>
        <p:spPr>
          <a:xfrm>
            <a:off x="457200" y="285292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2944368"/>
            <a:ext cx="274320" cy="429768"/>
          </a:xfrm>
          <a:prstGeom prst="rect">
            <a:avLst/>
          </a:prstGeom>
          <a:noFill/>
        </p:spPr>
        <p:txBody>
          <a:bodyPr wrap="square">
            <a:spAutoFit/>
          </a:bodyPr>
          <a:lstStyle/>
          <a:p>
            <a:pPr algn="l"/>
            <a:r>
              <a:rPr sz="1000" b="0" i="0">
                <a:solidFill>
                  <a:srgbClr val="FAF8F4"/>
                </a:solidFill>
              </a:rPr>
              <a:t>3</a:t>
            </a:r>
          </a:p>
        </p:txBody>
      </p:sp>
      <p:sp>
        <p:nvSpPr>
          <p:cNvPr id="40" name="Rectangle 39"/>
          <p:cNvSpPr/>
          <p:nvPr/>
        </p:nvSpPr>
        <p:spPr>
          <a:xfrm>
            <a:off x="868680" y="285292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2688" y="2944368"/>
            <a:ext cx="1920240" cy="429768"/>
          </a:xfrm>
          <a:prstGeom prst="rect">
            <a:avLst/>
          </a:prstGeom>
          <a:noFill/>
        </p:spPr>
        <p:txBody>
          <a:bodyPr wrap="square">
            <a:spAutoFit/>
          </a:bodyPr>
          <a:lstStyle/>
          <a:p>
            <a:pPr algn="l"/>
            <a:r>
              <a:rPr sz="1000" b="0" i="0">
                <a:solidFill>
                  <a:srgbClr val="FAF8F4"/>
                </a:solidFill>
              </a:rPr>
              <a:t>Vignesh · 3rd yr · IIT Delhi</a:t>
            </a:r>
          </a:p>
        </p:txBody>
      </p:sp>
      <p:sp>
        <p:nvSpPr>
          <p:cNvPr id="42" name="Rectangle 41"/>
          <p:cNvSpPr/>
          <p:nvPr/>
        </p:nvSpPr>
        <p:spPr>
          <a:xfrm>
            <a:off x="2926080" y="285292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990088" y="2944368"/>
            <a:ext cx="5394960" cy="429768"/>
          </a:xfrm>
          <a:prstGeom prst="rect">
            <a:avLst/>
          </a:prstGeom>
          <a:noFill/>
        </p:spPr>
        <p:txBody>
          <a:bodyPr wrap="square">
            <a:spAutoFit/>
          </a:bodyPr>
          <a:lstStyle/>
          <a:p>
            <a:pPr algn="l"/>
            <a:r>
              <a:rPr sz="1000" b="0" i="0">
                <a:solidFill>
                  <a:srgbClr val="FAF8F4"/>
                </a:solidFill>
              </a:rPr>
              <a:t>I've tried six different productivity apps. Each one solves one problem and creates two more. At some point you're spending more energy maintaining the system than doing the actual work.</a:t>
            </a:r>
          </a:p>
        </p:txBody>
      </p:sp>
      <p:sp>
        <p:nvSpPr>
          <p:cNvPr id="44" name="Rectangle 43"/>
          <p:cNvSpPr/>
          <p:nvPr/>
        </p:nvSpPr>
        <p:spPr>
          <a:xfrm>
            <a:off x="8503920" y="285292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567928" y="2944368"/>
            <a:ext cx="2194560" cy="429768"/>
          </a:xfrm>
          <a:prstGeom prst="rect">
            <a:avLst/>
          </a:prstGeom>
          <a:noFill/>
        </p:spPr>
        <p:txBody>
          <a:bodyPr wrap="square">
            <a:spAutoFit/>
          </a:bodyPr>
          <a:lstStyle/>
          <a:p>
            <a:pPr algn="l"/>
            <a:r>
              <a:rPr sz="1000" b="0" i="0">
                <a:solidFill>
                  <a:srgbClr val="FAF8F4"/>
                </a:solidFill>
              </a:rPr>
              <a:t>Tool overload</a:t>
            </a:r>
          </a:p>
        </p:txBody>
      </p:sp>
      <p:sp>
        <p:nvSpPr>
          <p:cNvPr id="46" name="Rectangle 45"/>
          <p:cNvSpPr/>
          <p:nvPr/>
        </p:nvSpPr>
        <p:spPr>
          <a:xfrm>
            <a:off x="457200" y="3355848"/>
            <a:ext cx="36576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21208" y="3447288"/>
            <a:ext cx="274320" cy="429768"/>
          </a:xfrm>
          <a:prstGeom prst="rect">
            <a:avLst/>
          </a:prstGeom>
          <a:noFill/>
        </p:spPr>
        <p:txBody>
          <a:bodyPr wrap="square">
            <a:spAutoFit/>
          </a:bodyPr>
          <a:lstStyle/>
          <a:p>
            <a:pPr algn="l"/>
            <a:r>
              <a:rPr sz="1000" b="0" i="0">
                <a:solidFill>
                  <a:srgbClr val="FAF8F4"/>
                </a:solidFill>
              </a:rPr>
              <a:t>4</a:t>
            </a:r>
          </a:p>
        </p:txBody>
      </p:sp>
      <p:sp>
        <p:nvSpPr>
          <p:cNvPr id="48" name="Rectangle 47"/>
          <p:cNvSpPr/>
          <p:nvPr/>
        </p:nvSpPr>
        <p:spPr>
          <a:xfrm>
            <a:off x="868680" y="3355848"/>
            <a:ext cx="201168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32688" y="3447288"/>
            <a:ext cx="1920240" cy="429768"/>
          </a:xfrm>
          <a:prstGeom prst="rect">
            <a:avLst/>
          </a:prstGeom>
          <a:noFill/>
        </p:spPr>
        <p:txBody>
          <a:bodyPr wrap="square">
            <a:spAutoFit/>
          </a:bodyPr>
          <a:lstStyle/>
          <a:p>
            <a:pPr algn="l"/>
            <a:r>
              <a:rPr sz="1000" b="0" i="0">
                <a:solidFill>
                  <a:srgbClr val="FAF8F4"/>
                </a:solidFill>
              </a:rPr>
              <a:t>Abhishek Dhaiya · Co-founder, Zuvees</a:t>
            </a:r>
          </a:p>
        </p:txBody>
      </p:sp>
      <p:sp>
        <p:nvSpPr>
          <p:cNvPr id="50" name="Rectangle 49"/>
          <p:cNvSpPr/>
          <p:nvPr/>
        </p:nvSpPr>
        <p:spPr>
          <a:xfrm>
            <a:off x="2926080" y="3355848"/>
            <a:ext cx="54864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990088" y="3447288"/>
            <a:ext cx="5394960" cy="429768"/>
          </a:xfrm>
          <a:prstGeom prst="rect">
            <a:avLst/>
          </a:prstGeom>
          <a:noFill/>
        </p:spPr>
        <p:txBody>
          <a:bodyPr wrap="square">
            <a:spAutoFit/>
          </a:bodyPr>
          <a:lstStyle/>
          <a:p>
            <a:pPr algn="l"/>
            <a:r>
              <a:rPr sz="1000" b="0" i="0">
                <a:solidFill>
                  <a:srgbClr val="FAF8F4"/>
                </a:solidFill>
              </a:rPr>
              <a:t>The productivity space is full of tools that make you do the thinking. What founders and students actually need is something that absorbs that cognitive load entirely — not a smarter notebook, but a thinking partner.</a:t>
            </a:r>
          </a:p>
        </p:txBody>
      </p:sp>
      <p:sp>
        <p:nvSpPr>
          <p:cNvPr id="52" name="Rectangle 51"/>
          <p:cNvSpPr/>
          <p:nvPr/>
        </p:nvSpPr>
        <p:spPr>
          <a:xfrm>
            <a:off x="8503920" y="3355848"/>
            <a:ext cx="2286000" cy="484632"/>
          </a:xfrm>
          <a:prstGeom prst="rect">
            <a:avLst/>
          </a:prstGeom>
          <a:solidFill>
            <a:srgbClr val="201E1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567928" y="3447288"/>
            <a:ext cx="2194560" cy="429768"/>
          </a:xfrm>
          <a:prstGeom prst="rect">
            <a:avLst/>
          </a:prstGeom>
          <a:noFill/>
        </p:spPr>
        <p:txBody>
          <a:bodyPr wrap="square">
            <a:spAutoFit/>
          </a:bodyPr>
          <a:lstStyle/>
          <a:p>
            <a:pPr algn="l"/>
            <a:r>
              <a:rPr sz="1000" b="0" i="0">
                <a:solidFill>
                  <a:srgbClr val="FAF8F4"/>
                </a:solidFill>
              </a:rPr>
              <a:t>Market validation</a:t>
            </a:r>
          </a:p>
        </p:txBody>
      </p:sp>
      <p:sp>
        <p:nvSpPr>
          <p:cNvPr id="54" name="Rectangle 53"/>
          <p:cNvSpPr/>
          <p:nvPr/>
        </p:nvSpPr>
        <p:spPr>
          <a:xfrm>
            <a:off x="457200" y="3858768"/>
            <a:ext cx="36576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21208" y="3950208"/>
            <a:ext cx="274320" cy="429768"/>
          </a:xfrm>
          <a:prstGeom prst="rect">
            <a:avLst/>
          </a:prstGeom>
          <a:noFill/>
        </p:spPr>
        <p:txBody>
          <a:bodyPr wrap="square">
            <a:spAutoFit/>
          </a:bodyPr>
          <a:lstStyle/>
          <a:p>
            <a:pPr algn="l"/>
            <a:r>
              <a:rPr sz="1000" b="0" i="0">
                <a:solidFill>
                  <a:srgbClr val="FAF8F4"/>
                </a:solidFill>
              </a:rPr>
              <a:t>5</a:t>
            </a:r>
          </a:p>
        </p:txBody>
      </p:sp>
      <p:sp>
        <p:nvSpPr>
          <p:cNvPr id="56" name="Rectangle 55"/>
          <p:cNvSpPr/>
          <p:nvPr/>
        </p:nvSpPr>
        <p:spPr>
          <a:xfrm>
            <a:off x="868680" y="3858768"/>
            <a:ext cx="201168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32688" y="3950208"/>
            <a:ext cx="1920240" cy="429768"/>
          </a:xfrm>
          <a:prstGeom prst="rect">
            <a:avLst/>
          </a:prstGeom>
          <a:noFill/>
        </p:spPr>
        <p:txBody>
          <a:bodyPr wrap="square">
            <a:spAutoFit/>
          </a:bodyPr>
          <a:lstStyle/>
          <a:p>
            <a:pPr algn="l"/>
            <a:r>
              <a:rPr sz="1000" b="0" i="0">
                <a:solidFill>
                  <a:srgbClr val="FAF8F4"/>
                </a:solidFill>
              </a:rPr>
              <a:t>Sreekesh Menon · Co-founder, Transient AI</a:t>
            </a:r>
          </a:p>
        </p:txBody>
      </p:sp>
      <p:sp>
        <p:nvSpPr>
          <p:cNvPr id="58" name="Rectangle 57"/>
          <p:cNvSpPr/>
          <p:nvPr/>
        </p:nvSpPr>
        <p:spPr>
          <a:xfrm>
            <a:off x="2926080" y="3858768"/>
            <a:ext cx="54864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90088" y="3950208"/>
            <a:ext cx="5394960" cy="429768"/>
          </a:xfrm>
          <a:prstGeom prst="rect">
            <a:avLst/>
          </a:prstGeom>
          <a:noFill/>
        </p:spPr>
        <p:txBody>
          <a:bodyPr wrap="square">
            <a:spAutoFit/>
          </a:bodyPr>
          <a:lstStyle/>
          <a:p>
            <a:pPr algn="l"/>
            <a:r>
              <a:rPr sz="1000" b="0" i="0">
                <a:solidFill>
                  <a:srgbClr val="FAF8F4"/>
                </a:solidFill>
              </a:rPr>
              <a:t>We are at the exact inflection point where local AI is good enough, constraint solvers are mature enough, and burnout is high enough. Anyone who builds the right scheduling layer right now has a 3-year head start.</a:t>
            </a:r>
          </a:p>
        </p:txBody>
      </p:sp>
      <p:sp>
        <p:nvSpPr>
          <p:cNvPr id="60" name="Rectangle 59"/>
          <p:cNvSpPr/>
          <p:nvPr/>
        </p:nvSpPr>
        <p:spPr>
          <a:xfrm>
            <a:off x="8503920" y="3858768"/>
            <a:ext cx="2286000" cy="484632"/>
          </a:xfrm>
          <a:prstGeom prst="rect">
            <a:avLst/>
          </a:prstGeom>
          <a:solidFill>
            <a:srgbClr val="2523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567928" y="3950208"/>
            <a:ext cx="2194560" cy="429768"/>
          </a:xfrm>
          <a:prstGeom prst="rect">
            <a:avLst/>
          </a:prstGeom>
          <a:noFill/>
        </p:spPr>
        <p:txBody>
          <a:bodyPr wrap="square">
            <a:spAutoFit/>
          </a:bodyPr>
          <a:lstStyle/>
          <a:p>
            <a:pPr algn="l"/>
            <a:r>
              <a:rPr sz="1000" b="0" i="0">
                <a:solidFill>
                  <a:srgbClr val="FAF8F4"/>
                </a:solidFill>
              </a:rPr>
              <a:t>Timing / Why Now</a:t>
            </a:r>
          </a:p>
        </p:txBody>
      </p:sp>
      <p:sp>
        <p:nvSpPr>
          <p:cNvPr id="62" name="TextBox 61"/>
          <p:cNvSpPr txBox="1"/>
          <p:nvPr/>
        </p:nvSpPr>
        <p:spPr>
          <a:xfrm>
            <a:off x="548640" y="4526280"/>
            <a:ext cx="10515600" cy="256032"/>
          </a:xfrm>
          <a:prstGeom prst="rect">
            <a:avLst/>
          </a:prstGeom>
          <a:noFill/>
        </p:spPr>
        <p:txBody>
          <a:bodyPr wrap="square">
            <a:spAutoFit/>
          </a:bodyPr>
          <a:lstStyle/>
          <a:p>
            <a:pPr algn="l"/>
            <a:r>
              <a:rPr sz="900" b="1" i="1">
                <a:solidFill>
                  <a:srgbClr val="D4775A"/>
                </a:solidFill>
              </a:rPr>
              <a:t>★  Replace bracketed placeholders with real interviewee data before submission.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