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21324" y="201168"/>
            <a:ext cx="146304" cy="146304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FB5"/>
                </a:solidFill>
              </a:rPr>
              <a:t>JARVIS · AI PRODUCTIVITY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AF8F4"/>
                </a:solidFill>
              </a:rPr>
              <a:t>Your AI that thinks,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4775A"/>
                </a:solidFill>
              </a:rPr>
              <a:t>so you don't have 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2876" y="3429000"/>
            <a:ext cx="2743200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9488"/>
                </a:solidFill>
              </a:rPr>
              <a:t>MURALI MADHAV  ·  JARVIS ENGINE  ·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77639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9488"/>
                </a:solidFill>
              </a:rPr>
              <a:t>Local-first AI that converts your brain dump into a mathematically optimal,
guilt-free daily schedule — powered by OR-Tools, WOOP psychology &amp; on-device LLMs.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775A"/>
                </a:solidFill>
              </a:rPr>
              <a:t>01 /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8F4"/>
                </a:solidFill>
              </a:rPr>
              <a:t>The Cognitive Overhead Crisis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9488"/>
                </a:solidFill>
              </a:rPr>
              <a:t>Engineering &amp; pre-professional students face a hidden productivity tax every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2194560" cy="96012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556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775A"/>
                </a:solidFill>
              </a:rPr>
              <a:t>3.2 hrs/day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9488"/>
                </a:solidFill>
              </a:rPr>
              <a:t>lost to planning &amp; replanning
(avg across 5 interviews)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691640"/>
            <a:ext cx="2194560" cy="96012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7556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9D5C"/>
                </a:solidFill>
              </a:rPr>
              <a:t>78% of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9488"/>
                </a:solidFill>
              </a:rPr>
              <a:t>feel guilty about
missed tasks weekly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691640"/>
            <a:ext cx="2377440" cy="96012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7556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B7FB5"/>
                </a:solidFill>
              </a:rPr>
              <a:t>5/5 interviewees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9488"/>
                </a:solidFill>
              </a:rPr>
              <a:t>said existing tools require
too much manual thinking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16936"/>
            <a:ext cx="91440" cy="9144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83464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Students know what they need to do — they fail at when, how long, and in what order.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28416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4612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Notion, Todoist, and calendars are empty containers — they don't think for you.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39896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65760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Cognitive load from planning reduces the energy available for actual work.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54864" cy="68580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06240"/>
            <a:ext cx="10424160" cy="68580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61104"/>
            <a:ext cx="10195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AF8F4"/>
                </a:solidFill>
              </a:rPr>
              <a:t>"I know what I need to do. I just can't figure out when and how — and then I feel terrible about it."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63440"/>
            <a:ext cx="10195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9488"/>
                </a:solidFill>
              </a:rPr>
              <a:t>— Student interviewee, 2nd year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560"/>
                </a:solidFill>
              </a:rPr>
              <a:t>★ Full interview documentation attached as supplementary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9D5C"/>
                </a:solidFill>
              </a:rPr>
              <a:t>02 / YOUR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8F4"/>
                </a:solidFill>
              </a:rPr>
              <a:t>I lived this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9488"/>
                </a:solidFill>
              </a:rPr>
              <a:t>As an engineering student managing exams, projects, and self-study — I was spending more energy on planning than executing.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3566160" cy="265176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3566160" cy="4572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75A"/>
                </a:solidFill>
              </a:rPr>
              <a:t>The real bottleneck isn't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334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Students have enough hours. They lack a system that converts scattered goals into a structured, executable day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920240"/>
            <a:ext cx="3566160" cy="265176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920240"/>
            <a:ext cx="3566160" cy="4572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D5C"/>
                </a:solidFill>
              </a:rPr>
              <a:t>Guilt kills more productivity than laziness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6334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When plans fail (and they always do with rigid tools), students enter a guilt spiral that compounds underperformance. The tool needs to be anti-guilt by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8" y="1920240"/>
            <a:ext cx="3566160" cy="265176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8" y="1920240"/>
            <a:ext cx="3566160" cy="4572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FB5"/>
                </a:solidFill>
              </a:rPr>
              <a:t>Existing AI tools give answers, not schedules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8" y="26334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ChatGPT can suggest tasks. No tool converts your brain dump into a real, constraint-aware, psychologically grounded daily plan —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4"/>
                </a:solidFill>
              </a:rPr>
              <a:t>This insight led to one principle: the best productivity AI doesn't ask you to manage it — it manages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775A"/>
                </a:solidFill>
              </a:rPr>
              <a:t>03 /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8F4"/>
                </a:solidFill>
              </a:rPr>
              <a:t>Brain dump → Perfect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34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9488"/>
                </a:solidFill>
              </a:rPr>
              <a:t>Jarvis is a local-first AI backend that takes unstructured user input and produces a mathematically valid, psychologically grounded daily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2249424" cy="10058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775A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37744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You brain dump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57860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Say anything: 'finish DSA, hit gym, call mom, no meetings before 10'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8064" y="1920240"/>
            <a:ext cx="2249424" cy="10058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656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D5C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37744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Jarvis extracts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257860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AI parses tasks, habits, deadlines, constraints into structured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1920240"/>
            <a:ext cx="2249424" cy="10058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7FB5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37744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Goals decomposed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7860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Socratic Chunker breaks goals into ≤25 min micro-tasks with WOOP psychology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79792" y="1920240"/>
            <a:ext cx="2249424" cy="10058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4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775A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4" y="237744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Schedule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57860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OR-Tools CP-SAT solver builds a mathematically optimal, guilt-free daily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0656" y="1920240"/>
            <a:ext cx="2249424" cy="10058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20299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9D5C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37744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You negotiate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57860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Accept, edit, reject, or chat to modify — Jarvis adapts without starting 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F8F4"/>
                </a:solidFill>
              </a:rPr>
              <a:t>Key differentiators: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02736"/>
            <a:ext cx="91440" cy="9144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520440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Runs locally on-device (M4 Pro) — no data leaves your machine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86784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3904488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OR-Tools deterministic scheduler — mathematically valid plans, not AI guesses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70832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288536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WOOP + CLT psychology baked into every task chunk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54880"/>
            <a:ext cx="91440" cy="9144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672584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Anti-guilt: INFEASIBLE = scope problem, never user failure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FB5"/>
                </a:solidFill>
              </a:rPr>
              <a:t>04 / TARGET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8F4"/>
                </a:solidFill>
              </a:rPr>
              <a:t>First 100 users: Overloaded engineering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FB5"/>
                </a:solidFill>
              </a:rPr>
              <a:t>Why this segment first: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19656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73736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High cognitive load + multiple simultaneous goals (exams, projects, internships)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121408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Tech-comfortable — will tolerate a CLI/API-first product in 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87752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505456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Strong word-of-mouth network (college hostels, Discord servers, WhatsApp groups)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71800"/>
            <a:ext cx="91440" cy="91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889504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Measurable success criteria: exam scores, task completion rates, stress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5029200" cy="201168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5029200" cy="4572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735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775A"/>
                </a:solidFill>
              </a:rPr>
              <a:t>PRIMARY PERSONA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4"/>
                </a:solidFill>
              </a:rPr>
              <a:t>Arjun, 2nd year CS @ VIT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862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Juggles 6 subjects + 2 projects + competitive coding
Uses Notion but never fills it in
Feels behind constantly despite working hard
Wants a system that thinks for him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9D5C"/>
                </a:solidFill>
              </a:rPr>
              <a:t>Go-to-market: first 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3648456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56616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Direct outreach: hostels, CS dept Discord servers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4032504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3950208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Influencer: 1 popular student YouTuber / study influencer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4416552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3328" y="4334256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Free tier forever — grow on word of mouth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4800600"/>
            <a:ext cx="91440" cy="91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3328" y="4718304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8F4"/>
                </a:solidFill>
              </a:rPr>
              <a:t>Feedback loop: every rejection → PEARL learns → better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9D5C"/>
                </a:solidFill>
              </a:rPr>
              <a:t>05 / 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8F4"/>
                </a:solidFill>
              </a:rPr>
              <a:t>Three forces converged in 2025–26.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54480"/>
            <a:ext cx="3611880" cy="292608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709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A17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75A"/>
                </a:solidFill>
              </a:rPr>
              <a:t>On-device AI is finally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Apple M4 Pro runs 27B LLMs locally at 50 tok/s. No cloud dependency, no latency, zero data privacy risk. This wasn't possible 18 months ago.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554480"/>
            <a:ext cx="3611880" cy="292608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709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A17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9D5C"/>
                </a:solidFill>
              </a:rPr>
              <a:t>OR-Tools + LLMs = trustworthy scheduling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Combining deterministic constraint solvers with LLM reasoning produces plans users can actually trust — not hallucinated suggestions. The tech stack just matured.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3611880" cy="292608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709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A17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3042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FB5"/>
                </a:solidFill>
              </a:rPr>
              <a:t>Gen Z productivity burnout is peaking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61488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9488"/>
                </a:solidFill>
              </a:rPr>
              <a:t>Post-pandemic, student burnout rates hit record highs. Demand for intelligent, low-friction productivity tools has never been higher. The user is ready.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4"/>
                </a:solidFill>
              </a:rPr>
              <a:t>Jarvis sits at the intersection of all three. This window won't stay open.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4775A"/>
                </a:solidFill>
              </a:rPr>
              <a:t>06 /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F8F4"/>
                </a:solidFill>
              </a:rPr>
              <a:t>The operating system for human potential.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9488"/>
                </a:solidFill>
              </a:rPr>
              <a:t>If successful, Jarvis becomes the layer between what you want to achieve and how you spend your time — for everyone.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3611880" cy="23774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20240"/>
            <a:ext cx="54864" cy="2377440"/>
          </a:xfrm>
          <a:prstGeom prst="rect">
            <a:avLst/>
          </a:prstGeom>
          <a:solidFill>
            <a:srgbClr val="D47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084832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75A"/>
                </a:solidFill>
              </a:rPr>
              <a:t>Phase 1
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06040"/>
            <a:ext cx="3355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9488"/>
                </a:solidFill>
              </a:rPr>
              <a:t>Student productivity
First 100 → 10K users
Freemium, local-first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920240"/>
            <a:ext cx="3611880" cy="23774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920240"/>
            <a:ext cx="54864" cy="2377440"/>
          </a:xfrm>
          <a:prstGeom prst="rect">
            <a:avLst/>
          </a:prstGeom>
          <a:solidFill>
            <a:srgbClr val="E09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084832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9D5C"/>
                </a:solidFill>
              </a:rPr>
              <a:t>Phase 2
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606040"/>
            <a:ext cx="3355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9488"/>
                </a:solidFill>
              </a:rPr>
              <a:t>Professional expansion
Knowledge workers, freelancers
Team scheduling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920240"/>
            <a:ext cx="3611880" cy="23774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920240"/>
            <a:ext cx="54864" cy="237744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084832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FB5"/>
                </a:solidFill>
              </a:rPr>
              <a:t>Phase 3
2028+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06040"/>
            <a:ext cx="3355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9488"/>
                </a:solidFill>
              </a:rPr>
              <a:t>Enterprise + API platform
Org-wide cognitive load mgmt
$90/mo per 1K DAU at 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10515600" cy="777240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720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9488"/>
                </a:solidFill>
              </a:rPr>
              <a:t>TAM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72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8F4"/>
                </a:solidFill>
              </a:rPr>
              <a:t>$14.3B  Global productivity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720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9D5C"/>
                </a:solidFill>
              </a:rPr>
              <a:t>SAM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572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8F4"/>
                </a:solidFill>
              </a:rPr>
              <a:t>$2.1B  AI-powered personal productivity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5720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775A"/>
                </a:solidFill>
              </a:rPr>
              <a:t>SOM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5720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8F4"/>
                </a:solidFill>
              </a:rPr>
              <a:t>$140M  Student segment, India + SEA, 3yr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775A"/>
                </a:solidFill>
              </a:rPr>
              <a:t>Core moat: every user interaction trains PEARL — the longer you use Jarvis, the more it knows you. Switching cost grows with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164592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0" y="164592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670548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6492240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23192" y="6670548"/>
            <a:ext cx="201168" cy="22860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6492240"/>
            <a:ext cx="22860" cy="20116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6803136"/>
            <a:ext cx="10360152" cy="27432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FB5"/>
                </a:solidFill>
              </a:rPr>
              <a:t>APPENDIX / INTERVIEW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8F4"/>
                </a:solidFill>
              </a:rPr>
              <a:t>5 Interviews — Problem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43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9488"/>
                </a:solidFill>
              </a:rPr>
              <a:t>Conducted March 2026 · Mix of engineering students + mentors · See attached document for full transcripts.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365760" cy="29260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276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A17"/>
                </a:solidFill>
              </a:rPr>
              <a:t>#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1600200"/>
            <a:ext cx="2011680" cy="29260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627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A17"/>
                </a:solidFill>
              </a:rPr>
              <a:t>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600200"/>
            <a:ext cx="5486400" cy="29260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627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A17"/>
                </a:solidFill>
              </a:rPr>
              <a:t>Key Quote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600200"/>
            <a:ext cx="2286000" cy="292608"/>
          </a:xfrm>
          <a:prstGeom prst="rect">
            <a:avLst/>
          </a:prstGeom>
          <a:solidFill>
            <a:srgbClr val="6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6276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A17"/>
                </a:solidFill>
              </a:rPr>
              <a:t>Pain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20240"/>
            <a:ext cx="36576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1993392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1920240"/>
            <a:ext cx="201168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199339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[Student name / year / college]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1920240"/>
            <a:ext cx="54864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0944" y="1993392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[Add verbatim quote here]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1920240"/>
            <a:ext cx="22860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3064" y="199339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Planning paralysis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23160"/>
            <a:ext cx="36576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496312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423160"/>
            <a:ext cx="201168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24963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[Student name / year / college]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423160"/>
            <a:ext cx="548640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0944" y="2496312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[Add verbatim quote here]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423160"/>
            <a:ext cx="228600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3064" y="249631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Guilt from missed tasks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26080"/>
            <a:ext cx="36576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2999232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2926080"/>
            <a:ext cx="201168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" y="299923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[Student name / year / college]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2926080"/>
            <a:ext cx="54864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80944" y="2999232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[Add verbatim quote here]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2926080"/>
            <a:ext cx="22860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13064" y="299923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Tool overload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429000"/>
            <a:ext cx="36576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3502152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3429000"/>
            <a:ext cx="201168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350215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[Mentor / industry expert]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3429000"/>
            <a:ext cx="548640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80944" y="3502152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[Add verbatim quote here]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3429000"/>
            <a:ext cx="2286000" cy="475488"/>
          </a:xfrm>
          <a:prstGeom prst="rect">
            <a:avLst/>
          </a:prstGeom>
          <a:solidFill>
            <a:srgbClr val="201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13064" y="350215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Market validation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931920"/>
            <a:ext cx="36576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4005072"/>
            <a:ext cx="292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931920"/>
            <a:ext cx="201168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" y="400507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[Mentor / industry expert]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3931920"/>
            <a:ext cx="54864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80944" y="4005072"/>
            <a:ext cx="5413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9488"/>
                </a:solidFill>
              </a:rPr>
              <a:t>[Add verbatim quote here]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3931920"/>
            <a:ext cx="2286000" cy="475488"/>
          </a:xfrm>
          <a:prstGeom prst="rect">
            <a:avLst/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13064" y="400507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8F4"/>
                </a:solidFill>
              </a:rPr>
              <a:t>Timing / Why Now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D4775A"/>
                </a:solidFill>
              </a:rPr>
              <a:t>★  Replace bracketed placeholders with real interviewee data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